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ümre Uykun" userId="627c53739c83e45b" providerId="LiveId" clId="{18F7091D-3A12-4862-A74D-F2D47E60D371}"/>
    <pc:docChg chg="modSld">
      <pc:chgData name="Zümre Uykun" userId="627c53739c83e45b" providerId="LiveId" clId="{18F7091D-3A12-4862-A74D-F2D47E60D371}" dt="2026-03-18T14:08:12.324" v="3" actId="1076"/>
      <pc:docMkLst>
        <pc:docMk/>
      </pc:docMkLst>
      <pc:sldChg chg="modSp mod">
        <pc:chgData name="Zümre Uykun" userId="627c53739c83e45b" providerId="LiveId" clId="{18F7091D-3A12-4862-A74D-F2D47E60D371}" dt="2026-03-18T14:08:00.874" v="2" actId="20577"/>
        <pc:sldMkLst>
          <pc:docMk/>
          <pc:sldMk cId="0" sldId="256"/>
        </pc:sldMkLst>
        <pc:spChg chg="mod">
          <ac:chgData name="Zümre Uykun" userId="627c53739c83e45b" providerId="LiveId" clId="{18F7091D-3A12-4862-A74D-F2D47E60D371}" dt="2026-03-18T14:08:00.874" v="2" actId="20577"/>
          <ac:spMkLst>
            <pc:docMk/>
            <pc:sldMk cId="0" sldId="256"/>
            <ac:spMk id="8" creationId="{00000000-0000-0000-0000-000000000000}"/>
          </ac:spMkLst>
        </pc:spChg>
      </pc:sldChg>
      <pc:sldChg chg="modSp mod">
        <pc:chgData name="Zümre Uykun" userId="627c53739c83e45b" providerId="LiveId" clId="{18F7091D-3A12-4862-A74D-F2D47E60D371}" dt="2026-03-18T14:08:12.324" v="3" actId="1076"/>
        <pc:sldMkLst>
          <pc:docMk/>
          <pc:sldMk cId="0" sldId="267"/>
        </pc:sldMkLst>
        <pc:spChg chg="mod">
          <ac:chgData name="Zümre Uykun" userId="627c53739c83e45b" providerId="LiveId" clId="{18F7091D-3A12-4862-A74D-F2D47E60D371}" dt="2026-03-18T14:08:12.324" v="3" actId="1076"/>
          <ac:spMkLst>
            <pc:docMk/>
            <pc:sldMk cId="0" sldId="267"/>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871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esteemed professors and fellow students. My name is Muhammed Mehdi Karagülle, and I am here with my teammates Ibrahim Demirci and Zümre Uykun. Today we will present PetReminder — a Java desktop application that helps pet owners manage care routines, medical records, and veterinary appointments. This project was developed for CEN 206 Object-Oriented Programming at Recep Tayyip Erdoğan University.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 owners, especially those with multiple animals, face the challenge of remembering daily feeding schedules, medication doses, vet appointments, and grooming routines. A missed medication dose can be dangerous. We built PetReminder to consolidate all these responsibilities into one application. An important constraint is data privacy: since pet medical records contain sensitive personal information, we comply with KVKK and GDPR by keeping all storage local and never exposing password hashes in logs or the UI.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PetReminder offers five core features. First, users register their pets with species-specific fields — for example, a dog has a training status while a cat has an indoor/outdoor flag. Second, users create typed reminders: feeding with portion sizes, medication with dosage information. Third, veterinary appointments include clinic name, phone, and cost estimation. Fourth, medical records track vaccinations, surgeries, and diagnoses. Finally, the settings panel allows switching between Binary, SQLite, and MySQL storage without restarting.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architecture follows a clean three-layer design. The presentation layer uses Java Swing with FlatLaf for a modern flat look. The service layer handles validation and business logic. The data layer is fully abstracted behind the IRepository generic interface. RepositoryFactory implements the Factory Pattern to select the correct repository at runtime. Adding a new backend requires only one new class and one factory case.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model layer demonstrates two inheritance hierarchies. The abstract class Pet defines shared attributes — name, species, birth date, weight — while Dog, Cat, and Bird add species-specific fields. Similarly, abstract Reminder is the parent of five concrete types. All fields are private, enforcing encapsulation. Constructors chain through super-calls to guarantee base-class initialization. User.toString excludes the password hash to comply with KVKK data privacy regulations.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Polymorphism is central to our design. When the service calls reminder.validate(), Java's dynamic dispatch invokes the correct subclass implementation at runtime. On the abstraction side, IRepository uses the type parameter T to serve Pet, Reminder, MedicalRecord, and User through a single interface — eliminating code duplication while maintaining full compile-time type safety. SqliteRepository uses the Template Method Pattern to define the CRUD algorithm skeleton in the base class while deferring SQL-specific steps to concrete subclasses.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data layer supports three storage backends. Binary serialization writes Java objects directly to .bin files. SQLite and MySQL store data in relational tables. For pets, we use Single Table Inheritance: all pet types share one table with a species discriminator column. The mapRow method reads this column and instantiates the correct Dog, Cat, or Bird object — another example of runtime polymorphism. Users can switch backends at runtime through the settings panel.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wrote 20 JUnit 5 test classes organized by layer. Service tests use Mockito to create mock repositories — we inject these mocks through the constructor, demonstrating Dependency Injection. For repository integration tests, we use H2, a pure-Java in-memory database, because it requires no native libraries and runs on any CI server. Our test strategy validates models in isolation, services with mocked dependencies, and repositories with real SQL execution.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exception handling strategy uses two custom unchecked exceptions that extend RuntimeException. ServiceException represents business rule violations — null pet, empty name, future birth date. RepositoryException wraps low-level JDBC or I/O failures from the data layer. This separation ensures each layer handles errors at the appropriate level: repositories throw RepositoryException for SQL errors, services throw ServiceException for validation failures, and the GUI catches these exceptions and displays user-friendly error dialogs via JOptionPane.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adheres to all five SOLID principles. Single Responsibility: each service class handles exactly one domain — PetService for pets, ReminderService for reminders. Open-Closed: adding a new storage backend or pet type extends the system without modifying existing code. Liskov Substitution: Dog, Cat, and Bird can substitute Pet anywhere with correct behavior. Interface Segregation: IRepository defines only focused CRUD methods. Dependency Inversion: services depend on the IRepository interface, never on concrete SQLite or MySQL classes.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design decisions stand out. First, services depend on IRepository, not concrete classes, following the Dependency Inversion Principle. Second, we implemented four Gang of Four patterns: RepositoryFactory for creation, EventManager as Singleton, PetReminderObserver for event notification, and SqliteRepository as Template Method. Third, the Observer Pattern ensures that when data changes, all GUI panels automatically refresh without direct coupling.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PetReminder demonstrates how OOP principles translate from textbook theory into working software. We applied inheritance, runtime polymorphism, encapsulation, and abstraction throughout two parallel class hierarchies. We followed all five SOLID principles and implemented four GoF design patterns. Our GitHub Actions CI/CD pipeline automatically builds and tests the project on every push, with JaCoCo coverage reporting. Looking forward, we could add push notifications, a REST API, and the Strategy Pattern for mapRow.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371600"/>
            <a:ext cx="9144000" cy="1097280"/>
          </a:xfrm>
          <a:prstGeom prst="rect">
            <a:avLst/>
          </a:prstGeom>
          <a:noFill/>
        </p:spPr>
        <p:txBody>
          <a:bodyPr wrap="square">
            <a:spAutoFit/>
          </a:bodyPr>
          <a:lstStyle/>
          <a:p>
            <a:pPr algn="l">
              <a:defRPr sz="5400" b="1">
                <a:solidFill>
                  <a:srgbClr val="00D2FF"/>
                </a:solidFill>
                <a:latin typeface="Segoe UI"/>
              </a:defRPr>
            </a:pPr>
            <a:r>
              <a:t>PetReminder</a:t>
            </a:r>
          </a:p>
        </p:txBody>
      </p:sp>
      <p:sp>
        <p:nvSpPr>
          <p:cNvPr id="5" name="TextBox 4"/>
          <p:cNvSpPr txBox="1"/>
          <p:nvPr/>
        </p:nvSpPr>
        <p:spPr>
          <a:xfrm>
            <a:off x="1371600" y="2468880"/>
            <a:ext cx="9144000" cy="731520"/>
          </a:xfrm>
          <a:prstGeom prst="rect">
            <a:avLst/>
          </a:prstGeom>
          <a:noFill/>
        </p:spPr>
        <p:txBody>
          <a:bodyPr wrap="square">
            <a:spAutoFit/>
          </a:bodyPr>
          <a:lstStyle/>
          <a:p>
            <a:pPr algn="l">
              <a:defRPr sz="2800" b="0">
                <a:solidFill>
                  <a:srgbClr val="FFFFFF"/>
                </a:solidFill>
                <a:latin typeface="Segoe UI"/>
              </a:defRPr>
            </a:pPr>
            <a:r>
              <a:t>Pet Care Management System</a:t>
            </a:r>
          </a:p>
        </p:txBody>
      </p:sp>
      <p:sp>
        <p:nvSpPr>
          <p:cNvPr id="6" name="Rectangle 5"/>
          <p:cNvSpPr/>
          <p:nvPr/>
        </p:nvSpPr>
        <p:spPr>
          <a:xfrm>
            <a:off x="1371600" y="3291840"/>
            <a:ext cx="2743200" cy="45720"/>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3566160"/>
            <a:ext cx="9144000" cy="457200"/>
          </a:xfrm>
          <a:prstGeom prst="rect">
            <a:avLst/>
          </a:prstGeom>
          <a:noFill/>
        </p:spPr>
        <p:txBody>
          <a:bodyPr wrap="square">
            <a:spAutoFit/>
          </a:bodyPr>
          <a:lstStyle/>
          <a:p>
            <a:pPr algn="l">
              <a:defRPr sz="1800" b="0">
                <a:solidFill>
                  <a:srgbClr val="BBBBCC"/>
                </a:solidFill>
                <a:latin typeface="Segoe UI"/>
              </a:defRPr>
            </a:pPr>
            <a:r>
              <a:t>CEN 206 — Object-Oriented Programming</a:t>
            </a:r>
          </a:p>
        </p:txBody>
      </p:sp>
      <p:sp>
        <p:nvSpPr>
          <p:cNvPr id="8" name="TextBox 7"/>
          <p:cNvSpPr txBox="1"/>
          <p:nvPr/>
        </p:nvSpPr>
        <p:spPr>
          <a:xfrm>
            <a:off x="1371600" y="3931920"/>
            <a:ext cx="9144000" cy="1118255"/>
          </a:xfrm>
          <a:prstGeom prst="rect">
            <a:avLst/>
          </a:prstGeom>
          <a:noFill/>
        </p:spPr>
        <p:txBody>
          <a:bodyPr wrap="square">
            <a:spAutoFit/>
          </a:bodyPr>
          <a:lstStyle/>
          <a:p>
            <a:pPr>
              <a:spcAft>
                <a:spcPts val="400"/>
              </a:spcAft>
              <a:defRPr sz="2000" b="1">
                <a:solidFill>
                  <a:srgbClr val="FFFFFF"/>
                </a:solidFill>
                <a:latin typeface="Segoe UI"/>
              </a:defRPr>
            </a:pPr>
            <a:r>
              <a:rPr dirty="0"/>
              <a:t>Muhammed Mehdi Karagülle</a:t>
            </a:r>
          </a:p>
          <a:p>
            <a:pPr>
              <a:spcAft>
                <a:spcPts val="400"/>
              </a:spcAft>
              <a:defRPr sz="2000" b="1">
                <a:solidFill>
                  <a:srgbClr val="FFFFFF"/>
                </a:solidFill>
                <a:latin typeface="Segoe UI"/>
              </a:defRPr>
            </a:pPr>
            <a:r>
              <a:rPr lang="tr-TR" dirty="0"/>
              <a:t>İ</a:t>
            </a:r>
            <a:r>
              <a:rPr dirty="0" err="1"/>
              <a:t>brahim</a:t>
            </a:r>
            <a:r>
              <a:rPr dirty="0"/>
              <a:t> Demirci</a:t>
            </a:r>
          </a:p>
          <a:p>
            <a:pPr>
              <a:spcAft>
                <a:spcPts val="400"/>
              </a:spcAft>
              <a:defRPr sz="2000" b="1">
                <a:solidFill>
                  <a:srgbClr val="FFFFFF"/>
                </a:solidFill>
                <a:latin typeface="Segoe UI"/>
              </a:defRPr>
            </a:pPr>
            <a:r>
              <a:rPr dirty="0"/>
              <a:t>Zümre Uykun</a:t>
            </a:r>
          </a:p>
        </p:txBody>
      </p:sp>
      <p:sp>
        <p:nvSpPr>
          <p:cNvPr id="9" name="TextBox 8"/>
          <p:cNvSpPr txBox="1"/>
          <p:nvPr/>
        </p:nvSpPr>
        <p:spPr>
          <a:xfrm>
            <a:off x="1371600" y="5303520"/>
            <a:ext cx="9144000" cy="457200"/>
          </a:xfrm>
          <a:prstGeom prst="rect">
            <a:avLst/>
          </a:prstGeom>
          <a:noFill/>
        </p:spPr>
        <p:txBody>
          <a:bodyPr wrap="square">
            <a:spAutoFit/>
          </a:bodyPr>
          <a:lstStyle/>
          <a:p>
            <a:pPr algn="l">
              <a:defRPr sz="1600" b="0">
                <a:solidFill>
                  <a:srgbClr val="BBBBCC"/>
                </a:solidFill>
                <a:latin typeface="Segoe UI"/>
              </a:defRPr>
            </a:pPr>
            <a:r>
              <a:t>Recep Tayyip Erdoğan University · March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Problem Statement &amp; Motivation</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10515600" cy="3200400"/>
          </a:xfrm>
          <a:prstGeom prst="rect">
            <a:avLst/>
          </a:prstGeom>
          <a:noFill/>
        </p:spPr>
        <p:txBody>
          <a:bodyPr wrap="square">
            <a:spAutoFit/>
          </a:bodyPr>
          <a:lstStyle/>
          <a:p>
            <a:pPr>
              <a:spcAft>
                <a:spcPts val="800"/>
              </a:spcAft>
              <a:defRPr sz="2000" b="0">
                <a:solidFill>
                  <a:srgbClr val="BBBBCC"/>
                </a:solidFill>
                <a:latin typeface="Segoe UI"/>
              </a:defRPr>
            </a:pPr>
            <a:r>
              <a:t>•  Pet owners must track feeding, medication, vet visits, and grooming — daily</a:t>
            </a:r>
          </a:p>
          <a:p>
            <a:pPr>
              <a:spcAft>
                <a:spcPts val="800"/>
              </a:spcAft>
              <a:defRPr sz="2000" b="0">
                <a:solidFill>
                  <a:srgbClr val="BBBBCC"/>
                </a:solidFill>
                <a:latin typeface="Segoe UI"/>
              </a:defRPr>
            </a:pPr>
            <a:r>
              <a:t>•  Multiple pets multiply the complexity exponentially</a:t>
            </a:r>
          </a:p>
          <a:p>
            <a:pPr>
              <a:spcAft>
                <a:spcPts val="800"/>
              </a:spcAft>
              <a:defRPr sz="2000" b="0">
                <a:solidFill>
                  <a:srgbClr val="BBBBCC"/>
                </a:solidFill>
                <a:latin typeface="Segoe UI"/>
              </a:defRPr>
            </a:pPr>
            <a:r>
              <a:t>•  Forgotten medication can have serious health consequences</a:t>
            </a:r>
          </a:p>
          <a:p>
            <a:pPr>
              <a:spcAft>
                <a:spcPts val="800"/>
              </a:spcAft>
              <a:defRPr sz="2000" b="0">
                <a:solidFill>
                  <a:srgbClr val="BBBBCC"/>
                </a:solidFill>
                <a:latin typeface="Segoe UI"/>
              </a:defRPr>
            </a:pPr>
            <a:r>
              <a:t>•  No single lightweight desktop tool existed for this purpose</a:t>
            </a:r>
          </a:p>
          <a:p>
            <a:pPr>
              <a:spcAft>
                <a:spcPts val="800"/>
              </a:spcAft>
              <a:defRPr sz="2000" b="0">
                <a:solidFill>
                  <a:srgbClr val="BBBBCC"/>
                </a:solidFill>
                <a:latin typeface="Segoe UI"/>
              </a:defRPr>
            </a:pPr>
            <a:r>
              <a:t>•  Our solution: one unified Java desktop application</a:t>
            </a:r>
          </a:p>
        </p:txBody>
      </p:sp>
      <p:sp>
        <p:nvSpPr>
          <p:cNvPr id="6" name="Rounded Rectangle 5"/>
          <p:cNvSpPr/>
          <p:nvPr/>
        </p:nvSpPr>
        <p:spPr>
          <a:xfrm>
            <a:off x="731520" y="4572000"/>
            <a:ext cx="10515600" cy="1463040"/>
          </a:xfrm>
          <a:prstGeom prst="roundRect">
            <a:avLst/>
          </a:prstGeom>
          <a:solidFill>
            <a:srgbClr val="1A0A2E"/>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6B35"/>
                </a:solidFill>
                <a:latin typeface="Segoe UI"/>
              </a:defRPr>
            </a:pPr>
            <a:r>
              <a:t>⚠  Project Constraint</a:t>
            </a:r>
          </a:p>
          <a:p>
            <a:pPr>
              <a:spcBef>
                <a:spcPts val="600"/>
              </a:spcBef>
              <a:defRPr sz="1500">
                <a:solidFill>
                  <a:srgbClr val="BBBBCC"/>
                </a:solidFill>
                <a:latin typeface="Segoe UI"/>
              </a:defRPr>
            </a:pPr>
            <a:r>
              <a:t>Data privacy (KVKK / GDPR) — pet medical records are sensitive personal data; all storage is local-only, password hashes are never exposed in logs or UI. User.toString() deliberately excludes passwordHash.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Features &amp; Demo Overview</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10515600" cy="4572000"/>
          </a:xfrm>
          <a:prstGeom prst="rect">
            <a:avLst/>
          </a:prstGeom>
          <a:noFill/>
        </p:spPr>
        <p:txBody>
          <a:bodyPr wrap="square">
            <a:spAutoFit/>
          </a:bodyPr>
          <a:lstStyle/>
          <a:p>
            <a:pPr>
              <a:spcAft>
                <a:spcPts val="800"/>
              </a:spcAft>
              <a:defRPr sz="2000" b="0">
                <a:solidFill>
                  <a:srgbClr val="BBBBCC"/>
                </a:solidFill>
                <a:latin typeface="Segoe UI"/>
              </a:defRPr>
            </a:pPr>
            <a:r>
              <a:t>•  Register pets: Dog, Cat, Bird — with species-specific attributes</a:t>
            </a:r>
          </a:p>
          <a:p>
            <a:pPr>
              <a:spcAft>
                <a:spcPts val="800"/>
              </a:spcAft>
              <a:defRPr sz="2000" b="0">
                <a:solidFill>
                  <a:srgbClr val="BBBBCC"/>
                </a:solidFill>
                <a:latin typeface="Segoe UI"/>
              </a:defRPr>
            </a:pPr>
            <a:r>
              <a:t>•  Schedule reminders: Feeding, Medication, Exercise, Grooming</a:t>
            </a:r>
          </a:p>
          <a:p>
            <a:pPr>
              <a:spcAft>
                <a:spcPts val="800"/>
              </a:spcAft>
              <a:defRPr sz="2000" b="0">
                <a:solidFill>
                  <a:srgbClr val="BBBBCC"/>
                </a:solidFill>
                <a:latin typeface="Segoe UI"/>
              </a:defRPr>
            </a:pPr>
            <a:r>
              <a:t>•  Manage vet appointments with clinic &amp; cost details</a:t>
            </a:r>
          </a:p>
          <a:p>
            <a:pPr>
              <a:spcAft>
                <a:spcPts val="800"/>
              </a:spcAft>
              <a:defRPr sz="2000" b="0">
                <a:solidFill>
                  <a:srgbClr val="BBBBCC"/>
                </a:solidFill>
                <a:latin typeface="Segoe UI"/>
              </a:defRPr>
            </a:pPr>
            <a:r>
              <a:t>•  Track medical history: vaccinations, surgeries, check-ups</a:t>
            </a:r>
          </a:p>
          <a:p>
            <a:pPr>
              <a:spcAft>
                <a:spcPts val="800"/>
              </a:spcAft>
              <a:defRPr sz="2000" b="0">
                <a:solidFill>
                  <a:srgbClr val="BBBBCC"/>
                </a:solidFill>
                <a:latin typeface="Segoe UI"/>
              </a:defRPr>
            </a:pPr>
            <a:r>
              <a:t>•  Switch storage backends at runtime (Binary / SQLite / MySQL)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System Architecture</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371600" y="1463040"/>
            <a:ext cx="4114800" cy="1188720"/>
          </a:xfrm>
          <a:prstGeom prst="roundRect">
            <a:avLst/>
          </a:prstGeom>
          <a:solidFill>
            <a:srgbClr val="1E3A5F"/>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Segoe UI"/>
              </a:defRPr>
            </a:pPr>
            <a:r>
              <a:t>UI Layer (Swing + FlatLaf)</a:t>
            </a:r>
          </a:p>
          <a:p>
            <a:pPr algn="ctr">
              <a:defRPr sz="1200">
                <a:solidFill>
                  <a:srgbClr val="BBBBCC"/>
                </a:solidFill>
                <a:latin typeface="Segoe UI"/>
              </a:defRPr>
            </a:pPr>
            <a:r>
              <a:t>MainFrame, Dashboard, PetsPanel, RemindersPanel, VetPanel</a:t>
            </a:r>
          </a:p>
        </p:txBody>
      </p:sp>
      <p:sp>
        <p:nvSpPr>
          <p:cNvPr id="6" name="Rounded Rectangle 5"/>
          <p:cNvSpPr/>
          <p:nvPr/>
        </p:nvSpPr>
        <p:spPr>
          <a:xfrm>
            <a:off x="1371600" y="3017520"/>
            <a:ext cx="4114800" cy="1188720"/>
          </a:xfrm>
          <a:prstGeom prst="roundRect">
            <a:avLst/>
          </a:prstGeom>
          <a:solidFill>
            <a:srgbClr val="2D1B69"/>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Segoe UI"/>
              </a:defRPr>
            </a:pPr>
            <a:r>
              <a:t>Service Layer (Business Logic)</a:t>
            </a:r>
          </a:p>
          <a:p>
            <a:pPr algn="ctr">
              <a:defRPr sz="1200">
                <a:solidFill>
                  <a:srgbClr val="BBBBCC"/>
                </a:solidFill>
                <a:latin typeface="Segoe UI"/>
              </a:defRPr>
            </a:pPr>
            <a:r>
              <a:t>PetService, ReminderService, MedicalRecordService</a:t>
            </a:r>
          </a:p>
        </p:txBody>
      </p:sp>
      <p:sp>
        <p:nvSpPr>
          <p:cNvPr id="7" name="Rounded Rectangle 6"/>
          <p:cNvSpPr/>
          <p:nvPr/>
        </p:nvSpPr>
        <p:spPr>
          <a:xfrm>
            <a:off x="1371600" y="4572000"/>
            <a:ext cx="4114800" cy="1188720"/>
          </a:xfrm>
          <a:prstGeom prst="roundRect">
            <a:avLst/>
          </a:prstGeom>
          <a:solidFill>
            <a:srgbClr val="0D4742"/>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Segoe UI"/>
              </a:defRPr>
            </a:pPr>
            <a:r>
              <a:t>Data Layer (Persistence)</a:t>
            </a:r>
          </a:p>
          <a:p>
            <a:pPr algn="ctr">
              <a:defRPr sz="1200">
                <a:solidFill>
                  <a:srgbClr val="BBBBCC"/>
                </a:solidFill>
                <a:latin typeface="Segoe UI"/>
              </a:defRPr>
            </a:pPr>
            <a:r>
              <a:t>IRepository&lt;T&gt; → Binary / SQLite / MySQL</a:t>
            </a:r>
          </a:p>
        </p:txBody>
      </p:sp>
      <p:sp>
        <p:nvSpPr>
          <p:cNvPr id="8" name="TextBox 7"/>
          <p:cNvSpPr txBox="1"/>
          <p:nvPr/>
        </p:nvSpPr>
        <p:spPr>
          <a:xfrm>
            <a:off x="6400800" y="1463040"/>
            <a:ext cx="5029200" cy="4572000"/>
          </a:xfrm>
          <a:prstGeom prst="rect">
            <a:avLst/>
          </a:prstGeom>
          <a:noFill/>
        </p:spPr>
        <p:txBody>
          <a:bodyPr wrap="square">
            <a:spAutoFit/>
          </a:bodyPr>
          <a:lstStyle/>
          <a:p>
            <a:pPr>
              <a:spcAft>
                <a:spcPts val="800"/>
              </a:spcAft>
              <a:defRPr sz="1700" b="0">
                <a:solidFill>
                  <a:srgbClr val="BBBBCC"/>
                </a:solidFill>
                <a:latin typeface="Segoe UI"/>
              </a:defRPr>
            </a:pPr>
            <a:r>
              <a:t>•  Three-layer separation of concerns</a:t>
            </a:r>
          </a:p>
          <a:p>
            <a:pPr>
              <a:spcAft>
                <a:spcPts val="800"/>
              </a:spcAft>
              <a:defRPr sz="1700" b="0">
                <a:solidFill>
                  <a:srgbClr val="BBBBCC"/>
                </a:solidFill>
                <a:latin typeface="Segoe UI"/>
              </a:defRPr>
            </a:pPr>
            <a:r>
              <a:t>•  Swing GUI with FlatLaf modern look-and-feel</a:t>
            </a:r>
          </a:p>
          <a:p>
            <a:pPr>
              <a:spcAft>
                <a:spcPts val="800"/>
              </a:spcAft>
              <a:defRPr sz="1700" b="0">
                <a:solidFill>
                  <a:srgbClr val="BBBBCC"/>
                </a:solidFill>
                <a:latin typeface="Segoe UI"/>
              </a:defRPr>
            </a:pPr>
            <a:r>
              <a:t>•  Service layer enforces validation rules</a:t>
            </a:r>
          </a:p>
          <a:p>
            <a:pPr>
              <a:spcAft>
                <a:spcPts val="800"/>
              </a:spcAft>
              <a:defRPr sz="1700" b="0">
                <a:solidFill>
                  <a:srgbClr val="BBBBCC"/>
                </a:solidFill>
                <a:latin typeface="Segoe UI"/>
              </a:defRPr>
            </a:pPr>
            <a:r>
              <a:t>•  IRepository&lt;T&gt; interface abstracts storage</a:t>
            </a:r>
          </a:p>
          <a:p>
            <a:pPr>
              <a:spcAft>
                <a:spcPts val="800"/>
              </a:spcAft>
              <a:defRPr sz="1700" b="0">
                <a:solidFill>
                  <a:srgbClr val="BBBBCC"/>
                </a:solidFill>
                <a:latin typeface="Segoe UI"/>
              </a:defRPr>
            </a:pPr>
            <a:r>
              <a:t>•  RepositoryFactory selects backend at runtime</a:t>
            </a:r>
          </a:p>
          <a:p>
            <a:pPr>
              <a:spcAft>
                <a:spcPts val="800"/>
              </a:spcAft>
              <a:defRPr sz="1700" b="0">
                <a:solidFill>
                  <a:srgbClr val="BBBBCC"/>
                </a:solidFill>
                <a:latin typeface="Segoe UI"/>
              </a:defRPr>
            </a:pPr>
            <a:r>
              <a:t>•  Observer Pattern notifies GUI on data changes</a:t>
            </a:r>
          </a:p>
        </p:txBody>
      </p:sp>
      <p:sp>
        <p:nvSpPr>
          <p:cNvPr id="9" name="Down Arrow 8"/>
          <p:cNvSpPr/>
          <p:nvPr/>
        </p:nvSpPr>
        <p:spPr>
          <a:xfrm>
            <a:off x="3200400" y="2697480"/>
            <a:ext cx="365760" cy="274320"/>
          </a:xfrm>
          <a:prstGeom prst="downArrow">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Down Arrow 9"/>
          <p:cNvSpPr/>
          <p:nvPr/>
        </p:nvSpPr>
        <p:spPr>
          <a:xfrm>
            <a:off x="3200400" y="4251960"/>
            <a:ext cx="365760" cy="274320"/>
          </a:xfrm>
          <a:prstGeom prst="downArrow">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Inheritance &amp; Encapsulation</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71600"/>
            <a:ext cx="5029200" cy="457200"/>
          </a:xfrm>
          <a:prstGeom prst="rect">
            <a:avLst/>
          </a:prstGeom>
          <a:noFill/>
        </p:spPr>
        <p:txBody>
          <a:bodyPr wrap="square">
            <a:spAutoFit/>
          </a:bodyPr>
          <a:lstStyle/>
          <a:p>
            <a:pPr algn="l">
              <a:defRPr sz="2200" b="1">
                <a:solidFill>
                  <a:srgbClr val="FF6B35"/>
                </a:solidFill>
                <a:latin typeface="Segoe UI"/>
              </a:defRPr>
            </a:pPr>
            <a:r>
              <a:t>Inheritance Hierarchies</a:t>
            </a:r>
          </a:p>
        </p:txBody>
      </p:sp>
      <p:sp>
        <p:nvSpPr>
          <p:cNvPr id="6" name="TextBox 5"/>
          <p:cNvSpPr txBox="1"/>
          <p:nvPr/>
        </p:nvSpPr>
        <p:spPr>
          <a:xfrm>
            <a:off x="731520" y="1920240"/>
            <a:ext cx="5029200" cy="4114800"/>
          </a:xfrm>
          <a:prstGeom prst="rect">
            <a:avLst/>
          </a:prstGeom>
          <a:noFill/>
        </p:spPr>
        <p:txBody>
          <a:bodyPr wrap="square">
            <a:spAutoFit/>
          </a:bodyPr>
          <a:lstStyle/>
          <a:p>
            <a:pPr>
              <a:spcAft>
                <a:spcPts val="800"/>
              </a:spcAft>
              <a:defRPr sz="1500" b="0">
                <a:solidFill>
                  <a:srgbClr val="BBBBCC"/>
                </a:solidFill>
                <a:latin typeface="Segoe UI"/>
              </a:defRPr>
            </a:pPr>
            <a:r>
              <a:t>  abstract Pet (Serializable)</a:t>
            </a:r>
          </a:p>
          <a:p>
            <a:pPr>
              <a:spcAft>
                <a:spcPts val="800"/>
              </a:spcAft>
              <a:defRPr sz="1500" b="0">
                <a:solidFill>
                  <a:srgbClr val="BBBBCC"/>
                </a:solidFill>
                <a:latin typeface="Segoe UI"/>
              </a:defRPr>
            </a:pPr>
            <a:r>
              <a:t>      ├── Dog   (+breed, +trained)</a:t>
            </a:r>
          </a:p>
          <a:p>
            <a:pPr>
              <a:spcAft>
                <a:spcPts val="800"/>
              </a:spcAft>
              <a:defRPr sz="1500" b="0">
                <a:solidFill>
                  <a:srgbClr val="BBBBCC"/>
                </a:solidFill>
                <a:latin typeface="Segoe UI"/>
              </a:defRPr>
            </a:pPr>
            <a:r>
              <a:t>      ├── Cat   (+breed, +indoor)</a:t>
            </a:r>
          </a:p>
          <a:p>
            <a:pPr>
              <a:spcAft>
                <a:spcPts val="800"/>
              </a:spcAft>
              <a:defRPr sz="1500" b="0">
                <a:solidFill>
                  <a:srgbClr val="BBBBCC"/>
                </a:solidFill>
                <a:latin typeface="Segoe UI"/>
              </a:defRPr>
            </a:pPr>
            <a:r>
              <a:t>      └── Bird  (+birdType, +canTalk)</a:t>
            </a:r>
          </a:p>
          <a:p>
            <a:pPr>
              <a:spcAft>
                <a:spcPts val="800"/>
              </a:spcAft>
              <a:defRPr sz="1500" b="0">
                <a:solidFill>
                  <a:srgbClr val="BBBBCC"/>
                </a:solidFill>
                <a:latin typeface="Segoe UI"/>
              </a:defRPr>
            </a:pPr>
            <a:endParaRPr/>
          </a:p>
          <a:p>
            <a:pPr>
              <a:spcAft>
                <a:spcPts val="800"/>
              </a:spcAft>
              <a:defRPr sz="1500" b="0">
                <a:solidFill>
                  <a:srgbClr val="BBBBCC"/>
                </a:solidFill>
                <a:latin typeface="Segoe UI"/>
              </a:defRPr>
            </a:pPr>
            <a:r>
              <a:t>  abstract Reminder (Serializable)</a:t>
            </a:r>
          </a:p>
          <a:p>
            <a:pPr>
              <a:spcAft>
                <a:spcPts val="800"/>
              </a:spcAft>
              <a:defRPr sz="1500" b="0">
                <a:solidFill>
                  <a:srgbClr val="BBBBCC"/>
                </a:solidFill>
                <a:latin typeface="Segoe UI"/>
              </a:defRPr>
            </a:pPr>
            <a:r>
              <a:t>      ├── FeedingReminder</a:t>
            </a:r>
          </a:p>
          <a:p>
            <a:pPr>
              <a:spcAft>
                <a:spcPts val="800"/>
              </a:spcAft>
              <a:defRPr sz="1500" b="0">
                <a:solidFill>
                  <a:srgbClr val="BBBBCC"/>
                </a:solidFill>
                <a:latin typeface="Segoe UI"/>
              </a:defRPr>
            </a:pPr>
            <a:r>
              <a:t>      ├── MedicationReminder</a:t>
            </a:r>
          </a:p>
          <a:p>
            <a:pPr>
              <a:spcAft>
                <a:spcPts val="800"/>
              </a:spcAft>
              <a:defRPr sz="1500" b="0">
                <a:solidFill>
                  <a:srgbClr val="BBBBCC"/>
                </a:solidFill>
                <a:latin typeface="Segoe UI"/>
              </a:defRPr>
            </a:pPr>
            <a:r>
              <a:t>      ├── ExerciseReminder</a:t>
            </a:r>
          </a:p>
          <a:p>
            <a:pPr>
              <a:spcAft>
                <a:spcPts val="800"/>
              </a:spcAft>
              <a:defRPr sz="1500" b="0">
                <a:solidFill>
                  <a:srgbClr val="BBBBCC"/>
                </a:solidFill>
                <a:latin typeface="Segoe UI"/>
              </a:defRPr>
            </a:pPr>
            <a:r>
              <a:t>      ├── GroomingReminder</a:t>
            </a:r>
          </a:p>
          <a:p>
            <a:pPr>
              <a:spcAft>
                <a:spcPts val="800"/>
              </a:spcAft>
              <a:defRPr sz="1500" b="0">
                <a:solidFill>
                  <a:srgbClr val="BBBBCC"/>
                </a:solidFill>
                <a:latin typeface="Segoe UI"/>
              </a:defRPr>
            </a:pPr>
            <a:r>
              <a:t>      └── VetAppointment</a:t>
            </a:r>
          </a:p>
        </p:txBody>
      </p:sp>
      <p:sp>
        <p:nvSpPr>
          <p:cNvPr id="7" name="TextBox 6"/>
          <p:cNvSpPr txBox="1"/>
          <p:nvPr/>
        </p:nvSpPr>
        <p:spPr>
          <a:xfrm>
            <a:off x="6400800" y="1371600"/>
            <a:ext cx="5029200" cy="457200"/>
          </a:xfrm>
          <a:prstGeom prst="rect">
            <a:avLst/>
          </a:prstGeom>
          <a:noFill/>
        </p:spPr>
        <p:txBody>
          <a:bodyPr wrap="square">
            <a:spAutoFit/>
          </a:bodyPr>
          <a:lstStyle/>
          <a:p>
            <a:pPr algn="l">
              <a:defRPr sz="2200" b="1">
                <a:solidFill>
                  <a:srgbClr val="FF6B35"/>
                </a:solidFill>
                <a:latin typeface="Segoe UI"/>
              </a:defRPr>
            </a:pPr>
            <a:r>
              <a:t>Encapsulation</a:t>
            </a:r>
          </a:p>
        </p:txBody>
      </p:sp>
      <p:sp>
        <p:nvSpPr>
          <p:cNvPr id="8" name="TextBox 7"/>
          <p:cNvSpPr txBox="1"/>
          <p:nvPr/>
        </p:nvSpPr>
        <p:spPr>
          <a:xfrm>
            <a:off x="6400800" y="1920240"/>
            <a:ext cx="5029200" cy="4114800"/>
          </a:xfrm>
          <a:prstGeom prst="rect">
            <a:avLst/>
          </a:prstGeom>
          <a:noFill/>
        </p:spPr>
        <p:txBody>
          <a:bodyPr wrap="square">
            <a:spAutoFit/>
          </a:bodyPr>
          <a:lstStyle/>
          <a:p>
            <a:pPr>
              <a:spcAft>
                <a:spcPts val="800"/>
              </a:spcAft>
              <a:defRPr sz="1500" b="0">
                <a:solidFill>
                  <a:srgbClr val="BBBBCC"/>
                </a:solidFill>
                <a:latin typeface="Segoe UI"/>
              </a:defRPr>
            </a:pPr>
            <a:r>
              <a:t>•  ALL model fields are private</a:t>
            </a:r>
          </a:p>
          <a:p>
            <a:pPr>
              <a:spcAft>
                <a:spcPts val="800"/>
              </a:spcAft>
              <a:defRPr sz="1500" b="0">
                <a:solidFill>
                  <a:srgbClr val="BBBBCC"/>
                </a:solidFill>
                <a:latin typeface="Segoe UI"/>
              </a:defRPr>
            </a:pPr>
            <a:r>
              <a:t>•  Controlled access via getters/setters</a:t>
            </a:r>
          </a:p>
          <a:p>
            <a:pPr>
              <a:spcAft>
                <a:spcPts val="800"/>
              </a:spcAft>
              <a:defRPr sz="1500" b="0">
                <a:solidFill>
                  <a:srgbClr val="BBBBCC"/>
                </a:solidFill>
                <a:latin typeface="Segoe UI"/>
              </a:defRPr>
            </a:pPr>
            <a:r>
              <a:t>•  Constructors chain via super()</a:t>
            </a:r>
          </a:p>
          <a:p>
            <a:pPr>
              <a:spcAft>
                <a:spcPts val="800"/>
              </a:spcAft>
              <a:defRPr sz="1500" b="0">
                <a:solidFill>
                  <a:srgbClr val="BBBBCC"/>
                </a:solidFill>
                <a:latin typeface="Segoe UI"/>
              </a:defRPr>
            </a:pPr>
            <a:r>
              <a:t>•  User.toString() hides passwordHash (KVKK)</a:t>
            </a:r>
          </a:p>
          <a:p>
            <a:pPr>
              <a:spcAft>
                <a:spcPts val="800"/>
              </a:spcAft>
              <a:defRPr sz="1500" b="0">
                <a:solidFill>
                  <a:srgbClr val="BBBBCC"/>
                </a:solidFill>
                <a:latin typeface="Segoe UI"/>
              </a:defRPr>
            </a:pPr>
            <a:endParaRPr/>
          </a:p>
          <a:p>
            <a:pPr>
              <a:spcAft>
                <a:spcPts val="800"/>
              </a:spcAft>
              <a:defRPr sz="1500" b="0">
                <a:solidFill>
                  <a:srgbClr val="BBBBCC"/>
                </a:solidFill>
                <a:latin typeface="Segoe UI"/>
              </a:defRPr>
            </a:pPr>
            <a:r>
              <a:t>  private int id;</a:t>
            </a:r>
          </a:p>
          <a:p>
            <a:pPr>
              <a:spcAft>
                <a:spcPts val="800"/>
              </a:spcAft>
              <a:defRPr sz="1500" b="0">
                <a:solidFill>
                  <a:srgbClr val="BBBBCC"/>
                </a:solidFill>
                <a:latin typeface="Segoe UI"/>
              </a:defRPr>
            </a:pPr>
            <a:r>
              <a:t>  private String name;</a:t>
            </a:r>
          </a:p>
          <a:p>
            <a:pPr>
              <a:spcAft>
                <a:spcPts val="800"/>
              </a:spcAft>
              <a:defRPr sz="1500" b="0">
                <a:solidFill>
                  <a:srgbClr val="BBBBCC"/>
                </a:solidFill>
                <a:latin typeface="Segoe UI"/>
              </a:defRPr>
            </a:pPr>
            <a:r>
              <a:t>  private LocalDate birthDate;</a:t>
            </a:r>
          </a:p>
          <a:p>
            <a:pPr>
              <a:spcAft>
                <a:spcPts val="800"/>
              </a:spcAft>
              <a:defRPr sz="1500" b="0">
                <a:solidFill>
                  <a:srgbClr val="BBBBCC"/>
                </a:solidFill>
                <a:latin typeface="Segoe UI"/>
              </a:defRPr>
            </a:pPr>
            <a:r>
              <a:t>  public String getName() { return name;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Polymorphism &amp; Abstraction</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71600"/>
            <a:ext cx="5029200" cy="457200"/>
          </a:xfrm>
          <a:prstGeom prst="rect">
            <a:avLst/>
          </a:prstGeom>
          <a:noFill/>
        </p:spPr>
        <p:txBody>
          <a:bodyPr wrap="square">
            <a:spAutoFit/>
          </a:bodyPr>
          <a:lstStyle/>
          <a:p>
            <a:pPr algn="l">
              <a:defRPr sz="2200" b="1">
                <a:solidFill>
                  <a:srgbClr val="FF6B35"/>
                </a:solidFill>
                <a:latin typeface="Segoe UI"/>
              </a:defRPr>
            </a:pPr>
            <a:r>
              <a:t>Runtime Polymorphism</a:t>
            </a:r>
          </a:p>
        </p:txBody>
      </p:sp>
      <p:sp>
        <p:nvSpPr>
          <p:cNvPr id="6" name="TextBox 5"/>
          <p:cNvSpPr txBox="1"/>
          <p:nvPr/>
        </p:nvSpPr>
        <p:spPr>
          <a:xfrm>
            <a:off x="731520" y="1920240"/>
            <a:ext cx="5029200" cy="4114800"/>
          </a:xfrm>
          <a:prstGeom prst="rect">
            <a:avLst/>
          </a:prstGeom>
          <a:noFill/>
        </p:spPr>
        <p:txBody>
          <a:bodyPr wrap="square">
            <a:spAutoFit/>
          </a:bodyPr>
          <a:lstStyle/>
          <a:p>
            <a:pPr>
              <a:spcAft>
                <a:spcPts val="800"/>
              </a:spcAft>
              <a:defRPr sz="1500" b="0">
                <a:solidFill>
                  <a:srgbClr val="BBBBCC"/>
                </a:solidFill>
                <a:latin typeface="Segoe UI"/>
              </a:defRPr>
            </a:pPr>
            <a:r>
              <a:t>•  makeSound() → Dog: "Hav!", Cat: "Miyav!",</a:t>
            </a:r>
          </a:p>
          <a:p>
            <a:pPr>
              <a:spcAft>
                <a:spcPts val="800"/>
              </a:spcAft>
              <a:defRPr sz="1500" b="0">
                <a:solidFill>
                  <a:srgbClr val="BBBBCC"/>
                </a:solidFill>
                <a:latin typeface="Segoe UI"/>
              </a:defRPr>
            </a:pPr>
            <a:r>
              <a:t>     Bird: conditional</a:t>
            </a:r>
          </a:p>
          <a:p>
            <a:pPr>
              <a:spcAft>
                <a:spcPts val="800"/>
              </a:spcAft>
              <a:defRPr sz="1500" b="0">
                <a:solidFill>
                  <a:srgbClr val="BBBBCC"/>
                </a:solidFill>
                <a:latin typeface="Segoe UI"/>
              </a:defRPr>
            </a:pPr>
            <a:r>
              <a:t>•  validate() → each Reminder subclass</a:t>
            </a:r>
          </a:p>
          <a:p>
            <a:pPr>
              <a:spcAft>
                <a:spcPts val="800"/>
              </a:spcAft>
              <a:defRPr sz="1500" b="0">
                <a:solidFill>
                  <a:srgbClr val="BBBBCC"/>
                </a:solidFill>
                <a:latin typeface="Segoe UI"/>
              </a:defRPr>
            </a:pPr>
            <a:r>
              <a:t>     has unique validation rules</a:t>
            </a:r>
          </a:p>
          <a:p>
            <a:pPr>
              <a:spcAft>
                <a:spcPts val="800"/>
              </a:spcAft>
              <a:defRPr sz="1500" b="0">
                <a:solidFill>
                  <a:srgbClr val="BBBBCC"/>
                </a:solidFill>
                <a:latin typeface="Segoe UI"/>
              </a:defRPr>
            </a:pPr>
            <a:r>
              <a:t>•  getReminderType() → resolved at runtime</a:t>
            </a:r>
          </a:p>
          <a:p>
            <a:pPr>
              <a:spcAft>
                <a:spcPts val="800"/>
              </a:spcAft>
              <a:defRPr sz="1500" b="0">
                <a:solidFill>
                  <a:srgbClr val="BBBBCC"/>
                </a:solidFill>
                <a:latin typeface="Segoe UI"/>
              </a:defRPr>
            </a:pPr>
            <a:r>
              <a:t>•  getSummary() → different format per type</a:t>
            </a:r>
          </a:p>
          <a:p>
            <a:pPr>
              <a:spcAft>
                <a:spcPts val="800"/>
              </a:spcAft>
              <a:defRPr sz="1500" b="0">
                <a:solidFill>
                  <a:srgbClr val="BBBBCC"/>
                </a:solidFill>
                <a:latin typeface="Segoe UI"/>
              </a:defRPr>
            </a:pPr>
            <a:endParaRPr/>
          </a:p>
          <a:p>
            <a:pPr>
              <a:spcAft>
                <a:spcPts val="800"/>
              </a:spcAft>
              <a:defRPr sz="1500" b="0">
                <a:solidFill>
                  <a:srgbClr val="BBBBCC"/>
                </a:solidFill>
                <a:latin typeface="Segoe UI"/>
              </a:defRPr>
            </a:pPr>
            <a:r>
              <a:t>  // Runtime polymorphism in ReminderService:</a:t>
            </a:r>
          </a:p>
          <a:p>
            <a:pPr>
              <a:spcAft>
                <a:spcPts val="800"/>
              </a:spcAft>
              <a:defRPr sz="1500" b="0">
                <a:solidFill>
                  <a:srgbClr val="BBBBCC"/>
                </a:solidFill>
                <a:latin typeface="Segoe UI"/>
              </a:defRPr>
            </a:pPr>
            <a:r>
              <a:t>  if (!r.validate())  // ← dispatched at runtime</a:t>
            </a:r>
          </a:p>
          <a:p>
            <a:pPr>
              <a:spcAft>
                <a:spcPts val="800"/>
              </a:spcAft>
              <a:defRPr sz="1500" b="0">
                <a:solidFill>
                  <a:srgbClr val="BBBBCC"/>
                </a:solidFill>
                <a:latin typeface="Segoe UI"/>
              </a:defRPr>
            </a:pPr>
            <a:r>
              <a:t>      throw new ServiceException("Invalid");</a:t>
            </a:r>
          </a:p>
        </p:txBody>
      </p:sp>
      <p:sp>
        <p:nvSpPr>
          <p:cNvPr id="7" name="TextBox 6"/>
          <p:cNvSpPr txBox="1"/>
          <p:nvPr/>
        </p:nvSpPr>
        <p:spPr>
          <a:xfrm>
            <a:off x="6400800" y="1371600"/>
            <a:ext cx="5029200" cy="457200"/>
          </a:xfrm>
          <a:prstGeom prst="rect">
            <a:avLst/>
          </a:prstGeom>
          <a:noFill/>
        </p:spPr>
        <p:txBody>
          <a:bodyPr wrap="square">
            <a:spAutoFit/>
          </a:bodyPr>
          <a:lstStyle/>
          <a:p>
            <a:pPr algn="l">
              <a:defRPr sz="2200" b="1">
                <a:solidFill>
                  <a:srgbClr val="FF6B35"/>
                </a:solidFill>
                <a:latin typeface="Segoe UI"/>
              </a:defRPr>
            </a:pPr>
            <a:r>
              <a:t>Abstraction via Interfaces</a:t>
            </a:r>
          </a:p>
        </p:txBody>
      </p:sp>
      <p:sp>
        <p:nvSpPr>
          <p:cNvPr id="8" name="TextBox 7"/>
          <p:cNvSpPr txBox="1"/>
          <p:nvPr/>
        </p:nvSpPr>
        <p:spPr>
          <a:xfrm>
            <a:off x="6400800" y="1920240"/>
            <a:ext cx="5029200" cy="4389120"/>
          </a:xfrm>
          <a:prstGeom prst="rect">
            <a:avLst/>
          </a:prstGeom>
          <a:noFill/>
        </p:spPr>
        <p:txBody>
          <a:bodyPr wrap="square">
            <a:spAutoFit/>
          </a:bodyPr>
          <a:lstStyle/>
          <a:p>
            <a:pPr>
              <a:spcAft>
                <a:spcPts val="800"/>
              </a:spcAft>
              <a:defRPr sz="1500" b="0">
                <a:solidFill>
                  <a:srgbClr val="BBBBCC"/>
                </a:solidFill>
                <a:latin typeface="Segoe UI"/>
              </a:defRPr>
            </a:pPr>
            <a:r>
              <a:t>•  IRepository&lt;T&gt; — generic CRUD contract</a:t>
            </a:r>
          </a:p>
          <a:p>
            <a:pPr>
              <a:spcAft>
                <a:spcPts val="800"/>
              </a:spcAft>
              <a:defRPr sz="1500" b="0">
                <a:solidFill>
                  <a:srgbClr val="BBBBCC"/>
                </a:solidFill>
                <a:latin typeface="Segoe UI"/>
              </a:defRPr>
            </a:pPr>
            <a:r>
              <a:t>     save(), findById(), findAll(), update(), delete()</a:t>
            </a:r>
          </a:p>
          <a:p>
            <a:pPr>
              <a:spcAft>
                <a:spcPts val="800"/>
              </a:spcAft>
              <a:defRPr sz="1500" b="0">
                <a:solidFill>
                  <a:srgbClr val="BBBBCC"/>
                </a:solidFill>
                <a:latin typeface="Segoe UI"/>
              </a:defRPr>
            </a:pPr>
            <a:endParaRPr/>
          </a:p>
          <a:p>
            <a:pPr>
              <a:spcAft>
                <a:spcPts val="800"/>
              </a:spcAft>
              <a:defRPr sz="1500" b="0">
                <a:solidFill>
                  <a:srgbClr val="BBBBCC"/>
                </a:solidFill>
                <a:latin typeface="Segoe UI"/>
              </a:defRPr>
            </a:pPr>
            <a:r>
              <a:t>•  Type parameter &lt;T&gt; enables ONE interface to</a:t>
            </a:r>
          </a:p>
          <a:p>
            <a:pPr>
              <a:spcAft>
                <a:spcPts val="800"/>
              </a:spcAft>
              <a:defRPr sz="1500" b="0">
                <a:solidFill>
                  <a:srgbClr val="BBBBCC"/>
                </a:solidFill>
                <a:latin typeface="Segoe UI"/>
              </a:defRPr>
            </a:pPr>
            <a:r>
              <a:t>     serve Pet, Reminder, MedicalRecord, User</a:t>
            </a:r>
          </a:p>
          <a:p>
            <a:pPr>
              <a:spcAft>
                <a:spcPts val="800"/>
              </a:spcAft>
              <a:defRPr sz="1500" b="0">
                <a:solidFill>
                  <a:srgbClr val="BBBBCC"/>
                </a:solidFill>
                <a:latin typeface="Segoe UI"/>
              </a:defRPr>
            </a:pPr>
            <a:r>
              <a:t>     — no code duplication, full type safety</a:t>
            </a:r>
          </a:p>
          <a:p>
            <a:pPr>
              <a:spcAft>
                <a:spcPts val="800"/>
              </a:spcAft>
              <a:defRPr sz="1500" b="0">
                <a:solidFill>
                  <a:srgbClr val="BBBBCC"/>
                </a:solidFill>
                <a:latin typeface="Segoe UI"/>
              </a:defRPr>
            </a:pPr>
            <a:endParaRPr/>
          </a:p>
          <a:p>
            <a:pPr>
              <a:spcAft>
                <a:spcPts val="800"/>
              </a:spcAft>
              <a:defRPr sz="1500" b="0">
                <a:solidFill>
                  <a:srgbClr val="BBBBCC"/>
                </a:solidFill>
                <a:latin typeface="Segoe UI"/>
              </a:defRPr>
            </a:pPr>
            <a:r>
              <a:t>•  PetReminderObserver — observer callback</a:t>
            </a:r>
          </a:p>
          <a:p>
            <a:pPr>
              <a:spcAft>
                <a:spcPts val="800"/>
              </a:spcAft>
              <a:defRPr sz="1500" b="0">
                <a:solidFill>
                  <a:srgbClr val="BBBBCC"/>
                </a:solidFill>
                <a:latin typeface="Segoe UI"/>
              </a:defRPr>
            </a:pPr>
            <a:r>
              <a:t>     onEvent(EventType, Object)</a:t>
            </a:r>
          </a:p>
          <a:p>
            <a:pPr>
              <a:spcAft>
                <a:spcPts val="800"/>
              </a:spcAft>
              <a:defRPr sz="1500" b="0">
                <a:solidFill>
                  <a:srgbClr val="BBBBCC"/>
                </a:solidFill>
                <a:latin typeface="Segoe UI"/>
              </a:defRPr>
            </a:pPr>
            <a:endParaRPr/>
          </a:p>
          <a:p>
            <a:pPr>
              <a:spcAft>
                <a:spcPts val="800"/>
              </a:spcAft>
              <a:defRPr sz="1500" b="0">
                <a:solidFill>
                  <a:srgbClr val="BBBBCC"/>
                </a:solidFill>
                <a:latin typeface="Segoe UI"/>
              </a:defRPr>
            </a:pPr>
            <a:r>
              <a:t>•  SqliteRepository&lt;T&gt; — Template Method Pattern</a:t>
            </a:r>
          </a:p>
          <a:p>
            <a:pPr>
              <a:spcAft>
                <a:spcPts val="800"/>
              </a:spcAft>
              <a:defRPr sz="1500" b="0">
                <a:solidFill>
                  <a:srgbClr val="BBBBCC"/>
                </a:solidFill>
                <a:latin typeface="Segoe UI"/>
              </a:defRPr>
            </a:pPr>
            <a:r>
              <a:t>     CRUD skeleton in base, SQL in subclasses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Database Layer &amp; Persistence</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5029200" cy="4572000"/>
          </a:xfrm>
          <a:prstGeom prst="rect">
            <a:avLst/>
          </a:prstGeom>
          <a:noFill/>
        </p:spPr>
        <p:txBody>
          <a:bodyPr wrap="square">
            <a:spAutoFit/>
          </a:bodyPr>
          <a:lstStyle/>
          <a:p>
            <a:pPr>
              <a:spcAft>
                <a:spcPts val="800"/>
              </a:spcAft>
              <a:defRPr sz="1600" b="0">
                <a:solidFill>
                  <a:srgbClr val="BBBBCC"/>
                </a:solidFill>
                <a:latin typeface="Segoe UI"/>
              </a:defRPr>
            </a:pPr>
            <a:r>
              <a:t>Three Storage Backends:</a:t>
            </a:r>
          </a:p>
          <a:p>
            <a:pPr>
              <a:spcAft>
                <a:spcPts val="800"/>
              </a:spcAft>
              <a:defRPr sz="1600" b="0">
                <a:solidFill>
                  <a:srgbClr val="BBBBCC"/>
                </a:solidFill>
                <a:latin typeface="Segoe UI"/>
              </a:defRPr>
            </a:pPr>
            <a:r>
              <a:t>  •  Binary — Object serialization (.bin files)</a:t>
            </a:r>
          </a:p>
          <a:p>
            <a:pPr>
              <a:spcAft>
                <a:spcPts val="800"/>
              </a:spcAft>
              <a:defRPr sz="1600" b="0">
                <a:solidFill>
                  <a:srgbClr val="BBBBCC"/>
                </a:solidFill>
                <a:latin typeface="Segoe UI"/>
              </a:defRPr>
            </a:pPr>
            <a:r>
              <a:t>  •  SQLite — embedded relational DB (JDBC)</a:t>
            </a:r>
          </a:p>
          <a:p>
            <a:pPr>
              <a:spcAft>
                <a:spcPts val="800"/>
              </a:spcAft>
              <a:defRPr sz="1600" b="0">
                <a:solidFill>
                  <a:srgbClr val="BBBBCC"/>
                </a:solidFill>
                <a:latin typeface="Segoe UI"/>
              </a:defRPr>
            </a:pPr>
            <a:r>
              <a:t>  •  MySQL — Docker-based client-server DB</a:t>
            </a:r>
          </a:p>
          <a:p>
            <a:pPr>
              <a:spcAft>
                <a:spcPts val="800"/>
              </a:spcAft>
              <a:defRPr sz="1600" b="0">
                <a:solidFill>
                  <a:srgbClr val="BBBBCC"/>
                </a:solidFill>
                <a:latin typeface="Segoe UI"/>
              </a:defRPr>
            </a:pPr>
            <a:endParaRPr/>
          </a:p>
          <a:p>
            <a:pPr>
              <a:spcAft>
                <a:spcPts val="800"/>
              </a:spcAft>
              <a:defRPr sz="1600" b="0">
                <a:solidFill>
                  <a:srgbClr val="BBBBCC"/>
                </a:solidFill>
                <a:latin typeface="Segoe UI"/>
              </a:defRPr>
            </a:pPr>
            <a:r>
              <a:t>Single Table Inheritance (Pet):</a:t>
            </a:r>
          </a:p>
          <a:p>
            <a:pPr>
              <a:spcAft>
                <a:spcPts val="800"/>
              </a:spcAft>
              <a:defRPr sz="1600" b="0">
                <a:solidFill>
                  <a:srgbClr val="BBBBCC"/>
                </a:solidFill>
                <a:latin typeface="Segoe UI"/>
              </a:defRPr>
            </a:pPr>
            <a:r>
              <a:t>  •  All pet types in one table</a:t>
            </a:r>
          </a:p>
          <a:p>
            <a:pPr>
              <a:spcAft>
                <a:spcPts val="800"/>
              </a:spcAft>
              <a:defRPr sz="1600" b="0">
                <a:solidFill>
                  <a:srgbClr val="BBBBCC"/>
                </a:solidFill>
                <a:latin typeface="Segoe UI"/>
              </a:defRPr>
            </a:pPr>
            <a:r>
              <a:t>  •  'species' column discriminates Dog/Cat/Bird</a:t>
            </a:r>
          </a:p>
          <a:p>
            <a:pPr>
              <a:spcAft>
                <a:spcPts val="800"/>
              </a:spcAft>
              <a:defRPr sz="1600" b="0">
                <a:solidFill>
                  <a:srgbClr val="BBBBCC"/>
                </a:solidFill>
                <a:latin typeface="Segoe UI"/>
              </a:defRPr>
            </a:pPr>
            <a:r>
              <a:t>  •  mapRow() instantiates correct subclass</a:t>
            </a:r>
          </a:p>
          <a:p>
            <a:pPr>
              <a:spcAft>
                <a:spcPts val="800"/>
              </a:spcAft>
              <a:defRPr sz="1600" b="0">
                <a:solidFill>
                  <a:srgbClr val="BBBBCC"/>
                </a:solidFill>
                <a:latin typeface="Segoe UI"/>
              </a:defRPr>
            </a:pPr>
            <a:endParaRPr/>
          </a:p>
          <a:p>
            <a:pPr>
              <a:spcAft>
                <a:spcPts val="800"/>
              </a:spcAft>
              <a:defRPr sz="1600" b="0">
                <a:solidFill>
                  <a:srgbClr val="BBBBCC"/>
                </a:solidFill>
                <a:latin typeface="Segoe UI"/>
              </a:defRPr>
            </a:pPr>
            <a:r>
              <a:t>Runtime Backend Switching:</a:t>
            </a:r>
          </a:p>
          <a:p>
            <a:pPr>
              <a:spcAft>
                <a:spcPts val="800"/>
              </a:spcAft>
              <a:defRPr sz="1600" b="0">
                <a:solidFill>
                  <a:srgbClr val="BBBBCC"/>
                </a:solidFill>
                <a:latin typeface="Segoe UI"/>
              </a:defRPr>
            </a:pPr>
            <a:r>
              <a:t>  •  StorageConfig reads/writes properties file</a:t>
            </a:r>
          </a:p>
          <a:p>
            <a:pPr>
              <a:spcAft>
                <a:spcPts val="800"/>
              </a:spcAft>
              <a:defRPr sz="1600" b="0">
                <a:solidFill>
                  <a:srgbClr val="BBBBCC"/>
                </a:solidFill>
                <a:latin typeface="Segoe UI"/>
              </a:defRPr>
            </a:pPr>
            <a:r>
              <a:t>  •  No application restart needed</a:t>
            </a:r>
          </a:p>
        </p:txBody>
      </p:sp>
      <p:sp>
        <p:nvSpPr>
          <p:cNvPr id="6" name="Rounded Rectangle 5"/>
          <p:cNvSpPr/>
          <p:nvPr/>
        </p:nvSpPr>
        <p:spPr>
          <a:xfrm>
            <a:off x="6400800" y="1463040"/>
            <a:ext cx="5029200" cy="4114800"/>
          </a:xfrm>
          <a:prstGeom prst="roundRect">
            <a:avLst/>
          </a:prstGeom>
          <a:solidFill>
            <a:srgbClr val="0F0F23"/>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defRPr sz="1300">
                <a:solidFill>
                  <a:srgbClr val="00E676"/>
                </a:solidFill>
                <a:latin typeface="Consolas"/>
              </a:defRPr>
            </a:pPr>
            <a:r>
              <a:t>CREATE TABLE pets (</a:t>
            </a:r>
          </a:p>
          <a:p>
            <a:pPr>
              <a:spcAft>
                <a:spcPts val="200"/>
              </a:spcAft>
              <a:defRPr sz="1300">
                <a:solidFill>
                  <a:srgbClr val="00E676"/>
                </a:solidFill>
                <a:latin typeface="Consolas"/>
              </a:defRPr>
            </a:pPr>
            <a:r>
              <a:t>  id      INTEGER PRIMARY KEY</a:t>
            </a:r>
          </a:p>
          <a:p>
            <a:pPr>
              <a:spcAft>
                <a:spcPts val="200"/>
              </a:spcAft>
              <a:defRPr sz="1300">
                <a:solidFill>
                  <a:srgbClr val="00E676"/>
                </a:solidFill>
                <a:latin typeface="Consolas"/>
              </a:defRPr>
            </a:pPr>
            <a:r>
              <a:t>          AUTOINCREMENT,</a:t>
            </a:r>
          </a:p>
          <a:p>
            <a:pPr>
              <a:spcAft>
                <a:spcPts val="200"/>
              </a:spcAft>
              <a:defRPr sz="1300">
                <a:solidFill>
                  <a:srgbClr val="00E676"/>
                </a:solidFill>
                <a:latin typeface="Consolas"/>
              </a:defRPr>
            </a:pPr>
            <a:r>
              <a:t>  name    TEXT NOT NULL,</a:t>
            </a:r>
          </a:p>
          <a:p>
            <a:pPr>
              <a:spcAft>
                <a:spcPts val="200"/>
              </a:spcAft>
              <a:defRPr sz="1300">
                <a:solidFill>
                  <a:srgbClr val="00E676"/>
                </a:solidFill>
                <a:latin typeface="Consolas"/>
              </a:defRPr>
            </a:pPr>
            <a:r>
              <a:t>  species TEXT NOT NULL,</a:t>
            </a:r>
          </a:p>
          <a:p>
            <a:pPr>
              <a:spcAft>
                <a:spcPts val="200"/>
              </a:spcAft>
              <a:defRPr sz="1300">
                <a:solidFill>
                  <a:srgbClr val="00E676"/>
                </a:solidFill>
                <a:latin typeface="Consolas"/>
              </a:defRPr>
            </a:pPr>
            <a:r>
              <a:t>  breed   TEXT,</a:t>
            </a:r>
          </a:p>
          <a:p>
            <a:pPr>
              <a:spcAft>
                <a:spcPts val="200"/>
              </a:spcAft>
              <a:defRPr sz="1300">
                <a:solidFill>
                  <a:srgbClr val="00E676"/>
                </a:solidFill>
                <a:latin typeface="Consolas"/>
              </a:defRPr>
            </a:pPr>
            <a:r>
              <a:t>  birth_date TEXT,</a:t>
            </a:r>
          </a:p>
          <a:p>
            <a:pPr>
              <a:spcAft>
                <a:spcPts val="200"/>
              </a:spcAft>
              <a:defRPr sz="1300">
                <a:solidFill>
                  <a:srgbClr val="00E676"/>
                </a:solidFill>
                <a:latin typeface="Consolas"/>
              </a:defRPr>
            </a:pPr>
            <a:r>
              <a:t>  gender  TEXT,</a:t>
            </a:r>
          </a:p>
          <a:p>
            <a:pPr>
              <a:spcAft>
                <a:spcPts val="200"/>
              </a:spcAft>
              <a:defRPr sz="1300">
                <a:solidFill>
                  <a:srgbClr val="00E676"/>
                </a:solidFill>
                <a:latin typeface="Consolas"/>
              </a:defRPr>
            </a:pPr>
            <a:r>
              <a:t>  weight  REAL DEFAULT 0,</a:t>
            </a:r>
          </a:p>
          <a:p>
            <a:pPr>
              <a:spcAft>
                <a:spcPts val="200"/>
              </a:spcAft>
              <a:defRPr sz="1300">
                <a:solidFill>
                  <a:srgbClr val="00E676"/>
                </a:solidFill>
                <a:latin typeface="Consolas"/>
              </a:defRPr>
            </a:pPr>
            <a:r>
              <a:t>  is_trained INTEGER DEFAULT 0,</a:t>
            </a:r>
          </a:p>
          <a:p>
            <a:pPr>
              <a:spcAft>
                <a:spcPts val="200"/>
              </a:spcAft>
              <a:defRPr sz="1300">
                <a:solidFill>
                  <a:srgbClr val="00E676"/>
                </a:solidFill>
                <a:latin typeface="Consolas"/>
              </a:defRPr>
            </a:pPr>
            <a:r>
              <a:t>  is_indoor  INTEGER DEFAULT 1,</a:t>
            </a:r>
          </a:p>
          <a:p>
            <a:pPr>
              <a:spcAft>
                <a:spcPts val="200"/>
              </a:spcAft>
              <a:defRPr sz="1300">
                <a:solidFill>
                  <a:srgbClr val="00E676"/>
                </a:solidFill>
                <a:latin typeface="Consolas"/>
              </a:defRPr>
            </a:pPr>
            <a:r>
              <a:t>  can_talk   INTEGER DEFAULT 0,</a:t>
            </a:r>
          </a:p>
          <a:p>
            <a:pPr>
              <a:spcAft>
                <a:spcPts val="200"/>
              </a:spcAft>
              <a:defRPr sz="1300">
                <a:solidFill>
                  <a:srgbClr val="00E676"/>
                </a:solidFill>
                <a:latin typeface="Consolas"/>
              </a:defRPr>
            </a:pPr>
            <a:r>
              <a:t>  bird_type  TEXT</a:t>
            </a:r>
          </a:p>
          <a:p>
            <a:pPr>
              <a:spcAft>
                <a:spcPts val="200"/>
              </a:spcAft>
              <a:defRPr sz="1300">
                <a:solidFill>
                  <a:srgbClr val="00E676"/>
                </a:solidFill>
                <a:latin typeface="Consolas"/>
              </a:defRPr>
            </a:pPr>
            <a: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Testing Strategy — JUnit 5 + Mockito</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5029200" cy="4572000"/>
          </a:xfrm>
          <a:prstGeom prst="rect">
            <a:avLst/>
          </a:prstGeom>
          <a:noFill/>
        </p:spPr>
        <p:txBody>
          <a:bodyPr wrap="square">
            <a:spAutoFit/>
          </a:bodyPr>
          <a:lstStyle/>
          <a:p>
            <a:pPr>
              <a:spcAft>
                <a:spcPts val="800"/>
              </a:spcAft>
              <a:defRPr sz="1500" b="0">
                <a:solidFill>
                  <a:srgbClr val="BBBBCC"/>
                </a:solidFill>
                <a:latin typeface="Segoe UI"/>
              </a:defRPr>
            </a:pPr>
            <a:r>
              <a:t>20 Test Classes covering:</a:t>
            </a:r>
          </a:p>
          <a:p>
            <a:pPr>
              <a:spcAft>
                <a:spcPts val="800"/>
              </a:spcAft>
              <a:defRPr sz="1500" b="0">
                <a:solidFill>
                  <a:srgbClr val="BBBBCC"/>
                </a:solidFill>
                <a:latin typeface="Segoe UI"/>
              </a:defRPr>
            </a:pPr>
            <a:r>
              <a:t>  •  Model tests — constructors, equals, hashCode</a:t>
            </a:r>
          </a:p>
          <a:p>
            <a:pPr>
              <a:spcAft>
                <a:spcPts val="800"/>
              </a:spcAft>
              <a:defRPr sz="1500" b="0">
                <a:solidFill>
                  <a:srgbClr val="BBBBCC"/>
                </a:solidFill>
                <a:latin typeface="Segoe UI"/>
              </a:defRPr>
            </a:pPr>
            <a:r>
              <a:t>  •  Service tests — business logic with mocks</a:t>
            </a:r>
          </a:p>
          <a:p>
            <a:pPr>
              <a:spcAft>
                <a:spcPts val="800"/>
              </a:spcAft>
              <a:defRPr sz="1500" b="0">
                <a:solidFill>
                  <a:srgbClr val="BBBBCC"/>
                </a:solidFill>
                <a:latin typeface="Segoe UI"/>
              </a:defRPr>
            </a:pPr>
            <a:r>
              <a:t>  •  Repository tests — SQL with H2 in-memory DB</a:t>
            </a:r>
          </a:p>
          <a:p>
            <a:pPr>
              <a:spcAft>
                <a:spcPts val="800"/>
              </a:spcAft>
              <a:defRPr sz="1500" b="0">
                <a:solidFill>
                  <a:srgbClr val="BBBBCC"/>
                </a:solidFill>
                <a:latin typeface="Segoe UI"/>
              </a:defRPr>
            </a:pPr>
            <a:r>
              <a:t>  •  Observer &amp; Config tests</a:t>
            </a:r>
          </a:p>
          <a:p>
            <a:pPr>
              <a:spcAft>
                <a:spcPts val="800"/>
              </a:spcAft>
              <a:defRPr sz="1500" b="0">
                <a:solidFill>
                  <a:srgbClr val="BBBBCC"/>
                </a:solidFill>
                <a:latin typeface="Segoe UI"/>
              </a:defRPr>
            </a:pPr>
            <a:endParaRPr/>
          </a:p>
          <a:p>
            <a:pPr>
              <a:spcAft>
                <a:spcPts val="800"/>
              </a:spcAft>
              <a:defRPr sz="1500" b="0">
                <a:solidFill>
                  <a:srgbClr val="BBBBCC"/>
                </a:solidFill>
                <a:latin typeface="Segoe UI"/>
              </a:defRPr>
            </a:pPr>
            <a:r>
              <a:t>Why Mockito?</a:t>
            </a:r>
          </a:p>
          <a:p>
            <a:pPr>
              <a:spcAft>
                <a:spcPts val="800"/>
              </a:spcAft>
              <a:defRPr sz="1500" b="0">
                <a:solidFill>
                  <a:srgbClr val="BBBBCC"/>
                </a:solidFill>
                <a:latin typeface="Segoe UI"/>
              </a:defRPr>
            </a:pPr>
            <a:r>
              <a:t>  •  Isolates service logic from database</a:t>
            </a:r>
          </a:p>
          <a:p>
            <a:pPr>
              <a:spcAft>
                <a:spcPts val="800"/>
              </a:spcAft>
              <a:defRPr sz="1500" b="0">
                <a:solidFill>
                  <a:srgbClr val="BBBBCC"/>
                </a:solidFill>
                <a:latin typeface="Segoe UI"/>
              </a:defRPr>
            </a:pPr>
            <a:r>
              <a:t>  •  Constructor injection enables DI</a:t>
            </a:r>
          </a:p>
          <a:p>
            <a:pPr>
              <a:spcAft>
                <a:spcPts val="800"/>
              </a:spcAft>
              <a:defRPr sz="1500" b="0">
                <a:solidFill>
                  <a:srgbClr val="BBBBCC"/>
                </a:solidFill>
                <a:latin typeface="Segoe UI"/>
              </a:defRPr>
            </a:pPr>
            <a:r>
              <a:t>  •  when().thenReturn() for stubbing</a:t>
            </a:r>
          </a:p>
          <a:p>
            <a:pPr>
              <a:spcAft>
                <a:spcPts val="800"/>
              </a:spcAft>
              <a:defRPr sz="1500" b="0">
                <a:solidFill>
                  <a:srgbClr val="BBBBCC"/>
                </a:solidFill>
                <a:latin typeface="Segoe UI"/>
              </a:defRPr>
            </a:pPr>
            <a:r>
              <a:t>  •  verify() for interaction checks</a:t>
            </a:r>
          </a:p>
          <a:p>
            <a:pPr>
              <a:spcAft>
                <a:spcPts val="800"/>
              </a:spcAft>
              <a:defRPr sz="1500" b="0">
                <a:solidFill>
                  <a:srgbClr val="BBBBCC"/>
                </a:solidFill>
                <a:latin typeface="Segoe UI"/>
              </a:defRPr>
            </a:pPr>
            <a:endParaRPr/>
          </a:p>
          <a:p>
            <a:pPr>
              <a:spcAft>
                <a:spcPts val="800"/>
              </a:spcAft>
              <a:defRPr sz="1500" b="0">
                <a:solidFill>
                  <a:srgbClr val="BBBBCC"/>
                </a:solidFill>
                <a:latin typeface="Segoe UI"/>
              </a:defRPr>
            </a:pPr>
            <a:r>
              <a:t>Why H2 instead of SQLite?</a:t>
            </a:r>
          </a:p>
          <a:p>
            <a:pPr>
              <a:spcAft>
                <a:spcPts val="800"/>
              </a:spcAft>
              <a:defRPr sz="1500" b="0">
                <a:solidFill>
                  <a:srgbClr val="BBBBCC"/>
                </a:solidFill>
                <a:latin typeface="Segoe UI"/>
              </a:defRPr>
            </a:pPr>
            <a:r>
              <a:t>  •  Pure-Java — no native library, runs on any CI</a:t>
            </a:r>
          </a:p>
          <a:p>
            <a:pPr>
              <a:spcAft>
                <a:spcPts val="800"/>
              </a:spcAft>
              <a:defRPr sz="1500" b="0">
                <a:solidFill>
                  <a:srgbClr val="BBBBCC"/>
                </a:solidFill>
                <a:latin typeface="Segoe UI"/>
              </a:defRPr>
            </a:pPr>
            <a:r>
              <a:t>  •  In-memory — fast, automatic cleanup</a:t>
            </a:r>
          </a:p>
        </p:txBody>
      </p:sp>
      <p:sp>
        <p:nvSpPr>
          <p:cNvPr id="6" name="Rounded Rectangle 5"/>
          <p:cNvSpPr/>
          <p:nvPr/>
        </p:nvSpPr>
        <p:spPr>
          <a:xfrm>
            <a:off x="6400800" y="1463040"/>
            <a:ext cx="5029200" cy="4114800"/>
          </a:xfrm>
          <a:prstGeom prst="roundRect">
            <a:avLst/>
          </a:prstGeom>
          <a:solidFill>
            <a:srgbClr val="0F0F23"/>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defRPr sz="1200">
                <a:solidFill>
                  <a:srgbClr val="00E676"/>
                </a:solidFill>
                <a:latin typeface="Consolas"/>
              </a:defRPr>
            </a:pPr>
            <a:r>
              <a:t>@Mock</a:t>
            </a:r>
          </a:p>
          <a:p>
            <a:pPr>
              <a:spcAft>
                <a:spcPts val="200"/>
              </a:spcAft>
              <a:defRPr sz="1200">
                <a:solidFill>
                  <a:srgbClr val="00E676"/>
                </a:solidFill>
                <a:latin typeface="Consolas"/>
              </a:defRPr>
            </a:pPr>
            <a:r>
              <a:t>IRepository&lt;Pet&gt; mockRepo;</a:t>
            </a:r>
          </a:p>
          <a:p>
            <a:pPr>
              <a:spcAft>
                <a:spcPts val="200"/>
              </a:spcAft>
              <a:defRPr sz="1200">
                <a:solidFill>
                  <a:srgbClr val="00E676"/>
                </a:solidFill>
                <a:latin typeface="Consolas"/>
              </a:defRPr>
            </a:pPr>
            <a:endParaRPr/>
          </a:p>
          <a:p>
            <a:pPr>
              <a:spcAft>
                <a:spcPts val="200"/>
              </a:spcAft>
              <a:defRPr sz="1200">
                <a:solidFill>
                  <a:srgbClr val="00E676"/>
                </a:solidFill>
                <a:latin typeface="Consolas"/>
              </a:defRPr>
            </a:pPr>
            <a:r>
              <a:t>@BeforeEach</a:t>
            </a:r>
          </a:p>
          <a:p>
            <a:pPr>
              <a:spcAft>
                <a:spcPts val="200"/>
              </a:spcAft>
              <a:defRPr sz="1200">
                <a:solidFill>
                  <a:srgbClr val="00E676"/>
                </a:solidFill>
                <a:latin typeface="Consolas"/>
              </a:defRPr>
            </a:pPr>
            <a:r>
              <a:t>void setUp() {</a:t>
            </a:r>
          </a:p>
          <a:p>
            <a:pPr>
              <a:spcAft>
                <a:spcPts val="200"/>
              </a:spcAft>
              <a:defRPr sz="1200">
                <a:solidFill>
                  <a:srgbClr val="00E676"/>
                </a:solidFill>
                <a:latin typeface="Consolas"/>
              </a:defRPr>
            </a:pPr>
            <a:r>
              <a:t>  MockitoAnnotations.openMocks(this);</a:t>
            </a:r>
          </a:p>
          <a:p>
            <a:pPr>
              <a:spcAft>
                <a:spcPts val="200"/>
              </a:spcAft>
              <a:defRPr sz="1200">
                <a:solidFill>
                  <a:srgbClr val="00E676"/>
                </a:solidFill>
                <a:latin typeface="Consolas"/>
              </a:defRPr>
            </a:pPr>
            <a:r>
              <a:t>  service = new PetService(mockRepo);</a:t>
            </a:r>
          </a:p>
          <a:p>
            <a:pPr>
              <a:spcAft>
                <a:spcPts val="200"/>
              </a:spcAft>
              <a:defRPr sz="1200">
                <a:solidFill>
                  <a:srgbClr val="00E676"/>
                </a:solidFill>
                <a:latin typeface="Consolas"/>
              </a:defRPr>
            </a:pPr>
            <a:r>
              <a:t>}</a:t>
            </a:r>
          </a:p>
          <a:p>
            <a:pPr>
              <a:spcAft>
                <a:spcPts val="200"/>
              </a:spcAft>
              <a:defRPr sz="1200">
                <a:solidFill>
                  <a:srgbClr val="00E676"/>
                </a:solidFill>
                <a:latin typeface="Consolas"/>
              </a:defRPr>
            </a:pPr>
            <a:endParaRPr/>
          </a:p>
          <a:p>
            <a:pPr>
              <a:spcAft>
                <a:spcPts val="200"/>
              </a:spcAft>
              <a:defRPr sz="1200">
                <a:solidFill>
                  <a:srgbClr val="00E676"/>
                </a:solidFill>
                <a:latin typeface="Consolas"/>
              </a:defRPr>
            </a:pPr>
            <a:r>
              <a:t>@Test</a:t>
            </a:r>
          </a:p>
          <a:p>
            <a:pPr>
              <a:spcAft>
                <a:spcPts val="200"/>
              </a:spcAft>
              <a:defRPr sz="1200">
                <a:solidFill>
                  <a:srgbClr val="00E676"/>
                </a:solidFill>
                <a:latin typeface="Consolas"/>
              </a:defRPr>
            </a:pPr>
            <a:r>
              <a:t>void testAddPet() {</a:t>
            </a:r>
          </a:p>
          <a:p>
            <a:pPr>
              <a:spcAft>
                <a:spcPts val="200"/>
              </a:spcAft>
              <a:defRPr sz="1200">
                <a:solidFill>
                  <a:srgbClr val="00E676"/>
                </a:solidFill>
                <a:latin typeface="Consolas"/>
              </a:defRPr>
            </a:pPr>
            <a:r>
              <a:t>  Dog dog = new Dog(0, "Rex", ...);</a:t>
            </a:r>
          </a:p>
          <a:p>
            <a:pPr>
              <a:spcAft>
                <a:spcPts val="200"/>
              </a:spcAft>
              <a:defRPr sz="1200">
                <a:solidFill>
                  <a:srgbClr val="00E676"/>
                </a:solidFill>
                <a:latin typeface="Consolas"/>
              </a:defRPr>
            </a:pPr>
            <a:r>
              <a:t>  when(mockRepo.save(dog))</a:t>
            </a:r>
          </a:p>
          <a:p>
            <a:pPr>
              <a:spcAft>
                <a:spcPts val="200"/>
              </a:spcAft>
              <a:defRPr sz="1200">
                <a:solidFill>
                  <a:srgbClr val="00E676"/>
                </a:solidFill>
                <a:latin typeface="Consolas"/>
              </a:defRPr>
            </a:pPr>
            <a:r>
              <a:t>    .thenReturn(1);</a:t>
            </a:r>
          </a:p>
          <a:p>
            <a:pPr>
              <a:spcAft>
                <a:spcPts val="200"/>
              </a:spcAft>
              <a:defRPr sz="1200">
                <a:solidFill>
                  <a:srgbClr val="00E676"/>
                </a:solidFill>
                <a:latin typeface="Consolas"/>
              </a:defRPr>
            </a:pPr>
            <a:r>
              <a:t>  service.addPet(dog);</a:t>
            </a:r>
          </a:p>
          <a:p>
            <a:pPr>
              <a:spcAft>
                <a:spcPts val="200"/>
              </a:spcAft>
              <a:defRPr sz="1200">
                <a:solidFill>
                  <a:srgbClr val="00E676"/>
                </a:solidFill>
                <a:latin typeface="Consolas"/>
              </a:defRPr>
            </a:pPr>
            <a:r>
              <a:t>  verify(mockRepo).save(dog);</a:t>
            </a:r>
          </a:p>
          <a:p>
            <a:pPr>
              <a:spcAft>
                <a:spcPts val="200"/>
              </a:spcAft>
              <a:defRPr sz="1200">
                <a:solidFill>
                  <a:srgbClr val="00E676"/>
                </a:solidFill>
                <a:latin typeface="Consolas"/>
              </a:defRPr>
            </a:pPr>
            <a: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Exception Handling Strategy</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71600"/>
            <a:ext cx="5029200" cy="457200"/>
          </a:xfrm>
          <a:prstGeom prst="rect">
            <a:avLst/>
          </a:prstGeom>
          <a:noFill/>
        </p:spPr>
        <p:txBody>
          <a:bodyPr wrap="square">
            <a:spAutoFit/>
          </a:bodyPr>
          <a:lstStyle/>
          <a:p>
            <a:pPr algn="l">
              <a:defRPr sz="2200" b="1">
                <a:solidFill>
                  <a:srgbClr val="FF6B35"/>
                </a:solidFill>
                <a:latin typeface="Segoe UI"/>
              </a:defRPr>
            </a:pPr>
            <a:r>
              <a:t>Custom Exception Hierarchy</a:t>
            </a:r>
          </a:p>
        </p:txBody>
      </p:sp>
      <p:sp>
        <p:nvSpPr>
          <p:cNvPr id="6" name="TextBox 5"/>
          <p:cNvSpPr txBox="1"/>
          <p:nvPr/>
        </p:nvSpPr>
        <p:spPr>
          <a:xfrm>
            <a:off x="731520" y="1920240"/>
            <a:ext cx="5029200" cy="2011680"/>
          </a:xfrm>
          <a:prstGeom prst="rect">
            <a:avLst/>
          </a:prstGeom>
          <a:noFill/>
        </p:spPr>
        <p:txBody>
          <a:bodyPr wrap="square">
            <a:spAutoFit/>
          </a:bodyPr>
          <a:lstStyle/>
          <a:p>
            <a:pPr>
              <a:spcAft>
                <a:spcPts val="800"/>
              </a:spcAft>
              <a:defRPr sz="1500" b="0">
                <a:solidFill>
                  <a:srgbClr val="BBBBCC"/>
                </a:solidFill>
                <a:latin typeface="Segoe UI"/>
              </a:defRPr>
            </a:pPr>
            <a:r>
              <a:t>  RuntimeException</a:t>
            </a:r>
          </a:p>
          <a:p>
            <a:pPr>
              <a:spcAft>
                <a:spcPts val="800"/>
              </a:spcAft>
              <a:defRPr sz="1500" b="0">
                <a:solidFill>
                  <a:srgbClr val="BBBBCC"/>
                </a:solidFill>
                <a:latin typeface="Segoe UI"/>
              </a:defRPr>
            </a:pPr>
            <a:r>
              <a:t>      ├── ServiceException</a:t>
            </a:r>
          </a:p>
          <a:p>
            <a:pPr>
              <a:spcAft>
                <a:spcPts val="800"/>
              </a:spcAft>
              <a:defRPr sz="1500" b="0">
                <a:solidFill>
                  <a:srgbClr val="BBBBCC"/>
                </a:solidFill>
                <a:latin typeface="Segoe UI"/>
              </a:defRPr>
            </a:pPr>
            <a:r>
              <a:t>      │     (business logic violations)</a:t>
            </a:r>
          </a:p>
          <a:p>
            <a:pPr>
              <a:spcAft>
                <a:spcPts val="800"/>
              </a:spcAft>
              <a:defRPr sz="1500" b="0">
                <a:solidFill>
                  <a:srgbClr val="BBBBCC"/>
                </a:solidFill>
                <a:latin typeface="Segoe UI"/>
              </a:defRPr>
            </a:pPr>
            <a:r>
              <a:t>      ├── RepositoryException</a:t>
            </a:r>
          </a:p>
          <a:p>
            <a:pPr>
              <a:spcAft>
                <a:spcPts val="800"/>
              </a:spcAft>
              <a:defRPr sz="1500" b="0">
                <a:solidFill>
                  <a:srgbClr val="BBBBCC"/>
                </a:solidFill>
                <a:latin typeface="Segoe UI"/>
              </a:defRPr>
            </a:pPr>
            <a:r>
              <a:t>      │     (storage / JDBC failures)</a:t>
            </a:r>
          </a:p>
          <a:p>
            <a:pPr>
              <a:spcAft>
                <a:spcPts val="800"/>
              </a:spcAft>
              <a:defRPr sz="1500" b="0">
                <a:solidFill>
                  <a:srgbClr val="BBBBCC"/>
                </a:solidFill>
                <a:latin typeface="Segoe UI"/>
              </a:defRPr>
            </a:pPr>
            <a:r>
              <a:t>      └── ValidationException</a:t>
            </a:r>
          </a:p>
          <a:p>
            <a:pPr>
              <a:spcAft>
                <a:spcPts val="800"/>
              </a:spcAft>
              <a:defRPr sz="1500" b="0">
                <a:solidFill>
                  <a:srgbClr val="BBBBCC"/>
                </a:solidFill>
                <a:latin typeface="Segoe UI"/>
              </a:defRPr>
            </a:pPr>
            <a:r>
              <a:t>            (invalid user input)</a:t>
            </a:r>
          </a:p>
        </p:txBody>
      </p:sp>
      <p:sp>
        <p:nvSpPr>
          <p:cNvPr id="7" name="TextBox 6"/>
          <p:cNvSpPr txBox="1"/>
          <p:nvPr/>
        </p:nvSpPr>
        <p:spPr>
          <a:xfrm>
            <a:off x="731520" y="4114800"/>
            <a:ext cx="5029200" cy="457200"/>
          </a:xfrm>
          <a:prstGeom prst="rect">
            <a:avLst/>
          </a:prstGeom>
          <a:noFill/>
        </p:spPr>
        <p:txBody>
          <a:bodyPr wrap="square">
            <a:spAutoFit/>
          </a:bodyPr>
          <a:lstStyle/>
          <a:p>
            <a:pPr algn="l">
              <a:defRPr sz="2200" b="1">
                <a:solidFill>
                  <a:srgbClr val="FF6B35"/>
                </a:solidFill>
                <a:latin typeface="Segoe UI"/>
              </a:defRPr>
            </a:pPr>
            <a:r>
              <a:t>Where Exceptions Flow</a:t>
            </a:r>
          </a:p>
        </p:txBody>
      </p:sp>
      <p:sp>
        <p:nvSpPr>
          <p:cNvPr id="8" name="TextBox 7"/>
          <p:cNvSpPr txBox="1"/>
          <p:nvPr/>
        </p:nvSpPr>
        <p:spPr>
          <a:xfrm>
            <a:off x="731520" y="4663440"/>
            <a:ext cx="5029200" cy="1828800"/>
          </a:xfrm>
          <a:prstGeom prst="rect">
            <a:avLst/>
          </a:prstGeom>
          <a:noFill/>
        </p:spPr>
        <p:txBody>
          <a:bodyPr wrap="square">
            <a:spAutoFit/>
          </a:bodyPr>
          <a:lstStyle/>
          <a:p>
            <a:pPr>
              <a:spcAft>
                <a:spcPts val="800"/>
              </a:spcAft>
              <a:defRPr sz="1500" b="0">
                <a:solidFill>
                  <a:srgbClr val="BBBBCC"/>
                </a:solidFill>
                <a:latin typeface="Segoe UI"/>
              </a:defRPr>
            </a:pPr>
            <a:r>
              <a:t>•  Service layer validates → throws ServiceException</a:t>
            </a:r>
          </a:p>
          <a:p>
            <a:pPr>
              <a:spcAft>
                <a:spcPts val="800"/>
              </a:spcAft>
              <a:defRPr sz="1500" b="0">
                <a:solidFill>
                  <a:srgbClr val="BBBBCC"/>
                </a:solidFill>
                <a:latin typeface="Segoe UI"/>
              </a:defRPr>
            </a:pPr>
            <a:r>
              <a:t>•  Repository layer catches SQL → wraps in</a:t>
            </a:r>
          </a:p>
          <a:p>
            <a:pPr>
              <a:spcAft>
                <a:spcPts val="800"/>
              </a:spcAft>
              <a:defRPr sz="1500" b="0">
                <a:solidFill>
                  <a:srgbClr val="BBBBCC"/>
                </a:solidFill>
                <a:latin typeface="Segoe UI"/>
              </a:defRPr>
            </a:pPr>
            <a:r>
              <a:t>     RepositoryException</a:t>
            </a:r>
          </a:p>
          <a:p>
            <a:pPr>
              <a:spcAft>
                <a:spcPts val="800"/>
              </a:spcAft>
              <a:defRPr sz="1500" b="0">
                <a:solidFill>
                  <a:srgbClr val="BBBBCC"/>
                </a:solidFill>
                <a:latin typeface="Segoe UI"/>
              </a:defRPr>
            </a:pPr>
            <a:r>
              <a:t>•  GUI layer catches all → shows JOptionPane</a:t>
            </a:r>
          </a:p>
          <a:p>
            <a:pPr>
              <a:spcAft>
                <a:spcPts val="800"/>
              </a:spcAft>
              <a:defRPr sz="1500" b="0">
                <a:solidFill>
                  <a:srgbClr val="BBBBCC"/>
                </a:solidFill>
                <a:latin typeface="Segoe UI"/>
              </a:defRPr>
            </a:pPr>
            <a:r>
              <a:t>     error dialog to user</a:t>
            </a:r>
          </a:p>
        </p:txBody>
      </p:sp>
      <p:sp>
        <p:nvSpPr>
          <p:cNvPr id="9" name="Rounded Rectangle 8"/>
          <p:cNvSpPr/>
          <p:nvPr/>
        </p:nvSpPr>
        <p:spPr>
          <a:xfrm>
            <a:off x="6400800" y="1371600"/>
            <a:ext cx="5029200" cy="2194560"/>
          </a:xfrm>
          <a:prstGeom prst="roundRect">
            <a:avLst/>
          </a:prstGeom>
          <a:solidFill>
            <a:srgbClr val="0F0F23"/>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defRPr sz="1200">
                <a:solidFill>
                  <a:srgbClr val="00E676"/>
                </a:solidFill>
                <a:latin typeface="Consolas"/>
              </a:defRPr>
            </a:pPr>
            <a:r>
              <a:t>// Service Layer — throws on violation</a:t>
            </a:r>
          </a:p>
          <a:p>
            <a:pPr>
              <a:spcAft>
                <a:spcPts val="200"/>
              </a:spcAft>
              <a:defRPr sz="1200">
                <a:solidFill>
                  <a:srgbClr val="00E676"/>
                </a:solidFill>
                <a:latin typeface="Consolas"/>
              </a:defRPr>
            </a:pPr>
            <a:r>
              <a:t>private void validatePet(Pet pet) {</a:t>
            </a:r>
          </a:p>
          <a:p>
            <a:pPr>
              <a:spcAft>
                <a:spcPts val="200"/>
              </a:spcAft>
              <a:defRPr sz="1200">
                <a:solidFill>
                  <a:srgbClr val="00E676"/>
                </a:solidFill>
                <a:latin typeface="Consolas"/>
              </a:defRPr>
            </a:pPr>
            <a:r>
              <a:t>  if (pet == null)</a:t>
            </a:r>
          </a:p>
          <a:p>
            <a:pPr>
              <a:spcAft>
                <a:spcPts val="200"/>
              </a:spcAft>
              <a:defRPr sz="1200">
                <a:solidFill>
                  <a:srgbClr val="00E676"/>
                </a:solidFill>
                <a:latin typeface="Consolas"/>
              </a:defRPr>
            </a:pPr>
            <a:r>
              <a:t>    throw new ServiceException(</a:t>
            </a:r>
          </a:p>
          <a:p>
            <a:pPr>
              <a:spcAft>
                <a:spcPts val="200"/>
              </a:spcAft>
              <a:defRPr sz="1200">
                <a:solidFill>
                  <a:srgbClr val="00E676"/>
                </a:solidFill>
                <a:latin typeface="Consolas"/>
              </a:defRPr>
            </a:pPr>
            <a:r>
              <a:t>      "Pet null olamaz");</a:t>
            </a:r>
          </a:p>
          <a:p>
            <a:pPr>
              <a:spcAft>
                <a:spcPts val="200"/>
              </a:spcAft>
              <a:defRPr sz="1200">
                <a:solidFill>
                  <a:srgbClr val="00E676"/>
                </a:solidFill>
                <a:latin typeface="Consolas"/>
              </a:defRPr>
            </a:pPr>
            <a:r>
              <a:t>  if (pet.getName().trim().isEmpty())</a:t>
            </a:r>
          </a:p>
          <a:p>
            <a:pPr>
              <a:spcAft>
                <a:spcPts val="200"/>
              </a:spcAft>
              <a:defRPr sz="1200">
                <a:solidFill>
                  <a:srgbClr val="00E676"/>
                </a:solidFill>
                <a:latin typeface="Consolas"/>
              </a:defRPr>
            </a:pPr>
            <a:r>
              <a:t>    throw new ServiceException(</a:t>
            </a:r>
          </a:p>
          <a:p>
            <a:pPr>
              <a:spcAft>
                <a:spcPts val="200"/>
              </a:spcAft>
              <a:defRPr sz="1200">
                <a:solidFill>
                  <a:srgbClr val="00E676"/>
                </a:solidFill>
                <a:latin typeface="Consolas"/>
              </a:defRPr>
            </a:pPr>
            <a:r>
              <a:t>      "Pet adi bos olamaz");</a:t>
            </a:r>
          </a:p>
          <a:p>
            <a:pPr>
              <a:spcAft>
                <a:spcPts val="200"/>
              </a:spcAft>
              <a:defRPr sz="1200">
                <a:solidFill>
                  <a:srgbClr val="00E676"/>
                </a:solidFill>
                <a:latin typeface="Consolas"/>
              </a:defRPr>
            </a:pPr>
            <a:r>
              <a:t>}</a:t>
            </a:r>
          </a:p>
        </p:txBody>
      </p:sp>
      <p:sp>
        <p:nvSpPr>
          <p:cNvPr id="10" name="Rounded Rectangle 9"/>
          <p:cNvSpPr/>
          <p:nvPr/>
        </p:nvSpPr>
        <p:spPr>
          <a:xfrm>
            <a:off x="6400800" y="3840480"/>
            <a:ext cx="5029200" cy="2560320"/>
          </a:xfrm>
          <a:prstGeom prst="roundRect">
            <a:avLst/>
          </a:prstGeom>
          <a:solidFill>
            <a:srgbClr val="0F0F23"/>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defRPr sz="1200">
                <a:solidFill>
                  <a:srgbClr val="00E676"/>
                </a:solidFill>
                <a:latin typeface="Consolas"/>
              </a:defRPr>
            </a:pPr>
            <a:r>
              <a:t>// GUI Layer — catches and shows dialog</a:t>
            </a:r>
          </a:p>
          <a:p>
            <a:pPr>
              <a:spcAft>
                <a:spcPts val="200"/>
              </a:spcAft>
              <a:defRPr sz="1200">
                <a:solidFill>
                  <a:srgbClr val="00E676"/>
                </a:solidFill>
                <a:latin typeface="Consolas"/>
              </a:defRPr>
            </a:pPr>
            <a:r>
              <a:t>try {</a:t>
            </a:r>
          </a:p>
          <a:p>
            <a:pPr>
              <a:spcAft>
                <a:spcPts val="200"/>
              </a:spcAft>
              <a:defRPr sz="1200">
                <a:solidFill>
                  <a:srgbClr val="00E676"/>
                </a:solidFill>
                <a:latin typeface="Consolas"/>
              </a:defRPr>
            </a:pPr>
            <a:r>
              <a:t>    petService.addPet(pet);</a:t>
            </a:r>
          </a:p>
          <a:p>
            <a:pPr>
              <a:spcAft>
                <a:spcPts val="200"/>
              </a:spcAft>
              <a:defRPr sz="1200">
                <a:solidFill>
                  <a:srgbClr val="00E676"/>
                </a:solidFill>
                <a:latin typeface="Consolas"/>
              </a:defRPr>
            </a:pPr>
            <a:r>
              <a:t>} catch (ServiceException e) {</a:t>
            </a:r>
          </a:p>
          <a:p>
            <a:pPr>
              <a:spcAft>
                <a:spcPts val="200"/>
              </a:spcAft>
              <a:defRPr sz="1200">
                <a:solidFill>
                  <a:srgbClr val="00E676"/>
                </a:solidFill>
                <a:latin typeface="Consolas"/>
              </a:defRPr>
            </a:pPr>
            <a:r>
              <a:t>    JOptionPane.showMessageDialog(</a:t>
            </a:r>
          </a:p>
          <a:p>
            <a:pPr>
              <a:spcAft>
                <a:spcPts val="200"/>
              </a:spcAft>
              <a:defRPr sz="1200">
                <a:solidFill>
                  <a:srgbClr val="00E676"/>
                </a:solidFill>
                <a:latin typeface="Consolas"/>
              </a:defRPr>
            </a:pPr>
            <a:r>
              <a:t>        this,</a:t>
            </a:r>
          </a:p>
          <a:p>
            <a:pPr>
              <a:spcAft>
                <a:spcPts val="200"/>
              </a:spcAft>
              <a:defRPr sz="1200">
                <a:solidFill>
                  <a:srgbClr val="00E676"/>
                </a:solidFill>
                <a:latin typeface="Consolas"/>
              </a:defRPr>
            </a:pPr>
            <a:r>
              <a:t>        e.getMessage(),</a:t>
            </a:r>
          </a:p>
          <a:p>
            <a:pPr>
              <a:spcAft>
                <a:spcPts val="200"/>
              </a:spcAft>
              <a:defRPr sz="1200">
                <a:solidFill>
                  <a:srgbClr val="00E676"/>
                </a:solidFill>
                <a:latin typeface="Consolas"/>
              </a:defRPr>
            </a:pPr>
            <a:r>
              <a:t>        "Validation Error",</a:t>
            </a:r>
          </a:p>
          <a:p>
            <a:pPr>
              <a:spcAft>
                <a:spcPts val="200"/>
              </a:spcAft>
              <a:defRPr sz="1200">
                <a:solidFill>
                  <a:srgbClr val="00E676"/>
                </a:solidFill>
                <a:latin typeface="Consolas"/>
              </a:defRPr>
            </a:pPr>
            <a:r>
              <a:t>        JOptionPane.ERROR_MESSAGE);</a:t>
            </a:r>
          </a:p>
          <a:p>
            <a:pPr>
              <a:spcAft>
                <a:spcPts val="200"/>
              </a:spcAft>
              <a:defRPr sz="1200">
                <a:solidFill>
                  <a:srgbClr val="00E676"/>
                </a:solidFill>
                <a:latin typeface="Consolas"/>
              </a:defRPr>
            </a:pPr>
            <a: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SOLID Principles in PetReminder</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43000" y="1463040"/>
            <a:ext cx="640080" cy="640080"/>
          </a:xfrm>
          <a:prstGeom prst="ellipse">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2800" b="1">
                <a:solidFill>
                  <a:srgbClr val="1B1B2F"/>
                </a:solidFill>
                <a:latin typeface="Segoe UI"/>
              </a:defRPr>
            </a:pPr>
            <a:r>
              <a:t>S</a:t>
            </a:r>
          </a:p>
        </p:txBody>
      </p:sp>
      <p:sp>
        <p:nvSpPr>
          <p:cNvPr id="6" name="TextBox 5"/>
          <p:cNvSpPr txBox="1"/>
          <p:nvPr/>
        </p:nvSpPr>
        <p:spPr>
          <a:xfrm>
            <a:off x="457200" y="2286000"/>
            <a:ext cx="2103120" cy="640080"/>
          </a:xfrm>
          <a:prstGeom prst="rect">
            <a:avLst/>
          </a:prstGeom>
          <a:noFill/>
        </p:spPr>
        <p:txBody>
          <a:bodyPr wrap="square">
            <a:spAutoFit/>
          </a:bodyPr>
          <a:lstStyle/>
          <a:p>
            <a:pPr algn="ctr">
              <a:defRPr sz="1400" b="1">
                <a:solidFill>
                  <a:srgbClr val="00D2FF"/>
                </a:solidFill>
                <a:latin typeface="Segoe UI"/>
              </a:defRPr>
            </a:pPr>
            <a:r>
              <a:t>Single Responsibility</a:t>
            </a:r>
          </a:p>
        </p:txBody>
      </p:sp>
      <p:sp>
        <p:nvSpPr>
          <p:cNvPr id="7" name="Rounded Rectangle 6"/>
          <p:cNvSpPr/>
          <p:nvPr/>
        </p:nvSpPr>
        <p:spPr>
          <a:xfrm>
            <a:off x="457200" y="2926080"/>
            <a:ext cx="2103120" cy="3017520"/>
          </a:xfrm>
          <a:prstGeom prst="roundRect">
            <a:avLst/>
          </a:prstGeom>
          <a:solidFill>
            <a:srgbClr val="16213E"/>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BBBBCC"/>
                </a:solidFill>
                <a:latin typeface="Segoe UI"/>
              </a:defRPr>
            </a:pPr>
            <a:r>
              <a:t>PetService handles only pet CRUD</a:t>
            </a:r>
            <a:br/>
            <a:r>
              <a:t>and validation — no UI logic,</a:t>
            </a:r>
            <a:br/>
            <a:r>
              <a:t>no SQL queries.</a:t>
            </a:r>
          </a:p>
        </p:txBody>
      </p:sp>
      <p:sp>
        <p:nvSpPr>
          <p:cNvPr id="8" name="Oval 7"/>
          <p:cNvSpPr/>
          <p:nvPr/>
        </p:nvSpPr>
        <p:spPr>
          <a:xfrm>
            <a:off x="3447288" y="1463040"/>
            <a:ext cx="640080" cy="640080"/>
          </a:xfrm>
          <a:prstGeom prst="ellipse">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2800" b="1">
                <a:solidFill>
                  <a:srgbClr val="1B1B2F"/>
                </a:solidFill>
                <a:latin typeface="Segoe UI"/>
              </a:defRPr>
            </a:pPr>
            <a:r>
              <a:t>O</a:t>
            </a:r>
          </a:p>
        </p:txBody>
      </p:sp>
      <p:sp>
        <p:nvSpPr>
          <p:cNvPr id="9" name="TextBox 8"/>
          <p:cNvSpPr txBox="1"/>
          <p:nvPr/>
        </p:nvSpPr>
        <p:spPr>
          <a:xfrm>
            <a:off x="2761488" y="2286000"/>
            <a:ext cx="2103120" cy="640080"/>
          </a:xfrm>
          <a:prstGeom prst="rect">
            <a:avLst/>
          </a:prstGeom>
          <a:noFill/>
        </p:spPr>
        <p:txBody>
          <a:bodyPr wrap="square">
            <a:spAutoFit/>
          </a:bodyPr>
          <a:lstStyle/>
          <a:p>
            <a:pPr algn="ctr">
              <a:defRPr sz="1400" b="1">
                <a:solidFill>
                  <a:srgbClr val="7B2FFF"/>
                </a:solidFill>
                <a:latin typeface="Segoe UI"/>
              </a:defRPr>
            </a:pPr>
            <a:r>
              <a:t>Open / Closed</a:t>
            </a:r>
          </a:p>
        </p:txBody>
      </p:sp>
      <p:sp>
        <p:nvSpPr>
          <p:cNvPr id="10" name="Rounded Rectangle 9"/>
          <p:cNvSpPr/>
          <p:nvPr/>
        </p:nvSpPr>
        <p:spPr>
          <a:xfrm>
            <a:off x="2761488" y="2926080"/>
            <a:ext cx="2103120" cy="3017520"/>
          </a:xfrm>
          <a:prstGeom prst="roundRect">
            <a:avLst/>
          </a:prstGeom>
          <a:solidFill>
            <a:srgbClr val="16213E"/>
          </a:solidFill>
          <a:ln w="19050">
            <a:solidFill>
              <a:srgbClr val="7B2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BBBBCC"/>
                </a:solidFill>
                <a:latin typeface="Segoe UI"/>
              </a:defRPr>
            </a:pPr>
            <a:r>
              <a:t>Adding a new storage backend</a:t>
            </a:r>
            <a:br/>
            <a:r>
              <a:t>requires only a new class +</a:t>
            </a:r>
            <a:br/>
            <a:r>
              <a:t>one factory case. No existing</a:t>
            </a:r>
            <a:br/>
            <a:r>
              <a:t>code is modified.</a:t>
            </a:r>
          </a:p>
        </p:txBody>
      </p:sp>
      <p:sp>
        <p:nvSpPr>
          <p:cNvPr id="11" name="Oval 10"/>
          <p:cNvSpPr/>
          <p:nvPr/>
        </p:nvSpPr>
        <p:spPr>
          <a:xfrm>
            <a:off x="5751576" y="1463040"/>
            <a:ext cx="640080" cy="640080"/>
          </a:xfrm>
          <a:prstGeom prst="ellipse">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2800" b="1">
                <a:solidFill>
                  <a:srgbClr val="1B1B2F"/>
                </a:solidFill>
                <a:latin typeface="Segoe UI"/>
              </a:defRPr>
            </a:pPr>
            <a:r>
              <a:t>L</a:t>
            </a:r>
          </a:p>
        </p:txBody>
      </p:sp>
      <p:sp>
        <p:nvSpPr>
          <p:cNvPr id="12" name="TextBox 11"/>
          <p:cNvSpPr txBox="1"/>
          <p:nvPr/>
        </p:nvSpPr>
        <p:spPr>
          <a:xfrm>
            <a:off x="5065776" y="2286000"/>
            <a:ext cx="2103120" cy="640080"/>
          </a:xfrm>
          <a:prstGeom prst="rect">
            <a:avLst/>
          </a:prstGeom>
          <a:noFill/>
        </p:spPr>
        <p:txBody>
          <a:bodyPr wrap="square">
            <a:spAutoFit/>
          </a:bodyPr>
          <a:lstStyle/>
          <a:p>
            <a:pPr algn="ctr">
              <a:defRPr sz="1400" b="1">
                <a:solidFill>
                  <a:srgbClr val="00E676"/>
                </a:solidFill>
                <a:latin typeface="Segoe UI"/>
              </a:defRPr>
            </a:pPr>
            <a:r>
              <a:t>Liskov Substitution</a:t>
            </a:r>
          </a:p>
        </p:txBody>
      </p:sp>
      <p:sp>
        <p:nvSpPr>
          <p:cNvPr id="13" name="Rounded Rectangle 12"/>
          <p:cNvSpPr/>
          <p:nvPr/>
        </p:nvSpPr>
        <p:spPr>
          <a:xfrm>
            <a:off x="5065776" y="2926080"/>
            <a:ext cx="2103120" cy="3017520"/>
          </a:xfrm>
          <a:prstGeom prst="roundRect">
            <a:avLst/>
          </a:prstGeom>
          <a:solidFill>
            <a:srgbClr val="16213E"/>
          </a:solidFill>
          <a:ln w="19050">
            <a:solidFill>
              <a:srgbClr val="00E67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BBBBCC"/>
                </a:solidFill>
                <a:latin typeface="Segoe UI"/>
              </a:defRPr>
            </a:pPr>
            <a:r>
              <a:t>Dog, Cat, Bird can replace Pet</a:t>
            </a:r>
            <a:br/>
            <a:r>
              <a:t>anywhere — services, repos,</a:t>
            </a:r>
            <a:br/>
            <a:r>
              <a:t>and GUI all operate on the</a:t>
            </a:r>
            <a:br/>
            <a:r>
              <a:t>abstract Pet type.</a:t>
            </a:r>
          </a:p>
        </p:txBody>
      </p:sp>
      <p:sp>
        <p:nvSpPr>
          <p:cNvPr id="14" name="Oval 13"/>
          <p:cNvSpPr/>
          <p:nvPr/>
        </p:nvSpPr>
        <p:spPr>
          <a:xfrm>
            <a:off x="8055864" y="1463040"/>
            <a:ext cx="640080" cy="6400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2800" b="1">
                <a:solidFill>
                  <a:srgbClr val="1B1B2F"/>
                </a:solidFill>
                <a:latin typeface="Segoe UI"/>
              </a:defRPr>
            </a:pPr>
            <a:r>
              <a:t>I</a:t>
            </a:r>
          </a:p>
        </p:txBody>
      </p:sp>
      <p:sp>
        <p:nvSpPr>
          <p:cNvPr id="15" name="TextBox 14"/>
          <p:cNvSpPr txBox="1"/>
          <p:nvPr/>
        </p:nvSpPr>
        <p:spPr>
          <a:xfrm>
            <a:off x="7370064" y="2286000"/>
            <a:ext cx="2103120" cy="640080"/>
          </a:xfrm>
          <a:prstGeom prst="rect">
            <a:avLst/>
          </a:prstGeom>
          <a:noFill/>
        </p:spPr>
        <p:txBody>
          <a:bodyPr wrap="square">
            <a:spAutoFit/>
          </a:bodyPr>
          <a:lstStyle/>
          <a:p>
            <a:pPr algn="ctr">
              <a:defRPr sz="1400" b="1">
                <a:solidFill>
                  <a:srgbClr val="FF6B35"/>
                </a:solidFill>
                <a:latin typeface="Segoe UI"/>
              </a:defRPr>
            </a:pPr>
            <a:r>
              <a:t>Interface Segregation</a:t>
            </a:r>
          </a:p>
        </p:txBody>
      </p:sp>
      <p:sp>
        <p:nvSpPr>
          <p:cNvPr id="16" name="Rounded Rectangle 15"/>
          <p:cNvSpPr/>
          <p:nvPr/>
        </p:nvSpPr>
        <p:spPr>
          <a:xfrm>
            <a:off x="7370064" y="2926080"/>
            <a:ext cx="2103120" cy="3017520"/>
          </a:xfrm>
          <a:prstGeom prst="roundRect">
            <a:avLst/>
          </a:prstGeom>
          <a:solidFill>
            <a:srgbClr val="16213E"/>
          </a:solidFill>
          <a:ln w="19050">
            <a:solidFill>
              <a:srgbClr val="FF6B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BBBBCC"/>
                </a:solidFill>
                <a:latin typeface="Segoe UI"/>
              </a:defRPr>
            </a:pPr>
            <a:r>
              <a:t>IRepository&lt;T&gt; has only 8</a:t>
            </a:r>
            <a:br/>
            <a:r>
              <a:t>focused methods (CRUD + close).</a:t>
            </a:r>
            <a:br/>
            <a:r>
              <a:t>No fat interface —</a:t>
            </a:r>
            <a:br/>
            <a:r>
              <a:t>clients use what they need.</a:t>
            </a:r>
          </a:p>
        </p:txBody>
      </p:sp>
      <p:sp>
        <p:nvSpPr>
          <p:cNvPr id="17" name="Oval 16"/>
          <p:cNvSpPr/>
          <p:nvPr/>
        </p:nvSpPr>
        <p:spPr>
          <a:xfrm>
            <a:off x="10360152" y="1463040"/>
            <a:ext cx="640080" cy="640080"/>
          </a:xfrm>
          <a:prstGeom prst="ellipse">
            <a:avLst/>
          </a:prstGeom>
          <a:solidFill>
            <a:srgbClr val="FF415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2800" b="1">
                <a:solidFill>
                  <a:srgbClr val="1B1B2F"/>
                </a:solidFill>
                <a:latin typeface="Segoe UI"/>
              </a:defRPr>
            </a:pPr>
            <a:r>
              <a:t>D</a:t>
            </a:r>
          </a:p>
        </p:txBody>
      </p:sp>
      <p:sp>
        <p:nvSpPr>
          <p:cNvPr id="18" name="TextBox 17"/>
          <p:cNvSpPr txBox="1"/>
          <p:nvPr/>
        </p:nvSpPr>
        <p:spPr>
          <a:xfrm>
            <a:off x="9674352" y="2286000"/>
            <a:ext cx="2103120" cy="640080"/>
          </a:xfrm>
          <a:prstGeom prst="rect">
            <a:avLst/>
          </a:prstGeom>
          <a:noFill/>
        </p:spPr>
        <p:txBody>
          <a:bodyPr wrap="square">
            <a:spAutoFit/>
          </a:bodyPr>
          <a:lstStyle/>
          <a:p>
            <a:pPr algn="ctr">
              <a:defRPr sz="1400" b="1">
                <a:solidFill>
                  <a:srgbClr val="FF4154"/>
                </a:solidFill>
                <a:latin typeface="Segoe UI"/>
              </a:defRPr>
            </a:pPr>
            <a:r>
              <a:t>Dependency Inversion</a:t>
            </a:r>
          </a:p>
        </p:txBody>
      </p:sp>
      <p:sp>
        <p:nvSpPr>
          <p:cNvPr id="19" name="Rounded Rectangle 18"/>
          <p:cNvSpPr/>
          <p:nvPr/>
        </p:nvSpPr>
        <p:spPr>
          <a:xfrm>
            <a:off x="9674352" y="2926080"/>
            <a:ext cx="2103120" cy="3017520"/>
          </a:xfrm>
          <a:prstGeom prst="roundRect">
            <a:avLst/>
          </a:prstGeom>
          <a:solidFill>
            <a:srgbClr val="16213E"/>
          </a:solidFill>
          <a:ln w="19050">
            <a:solidFill>
              <a:srgbClr val="FF415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BBBBCC"/>
                </a:solidFill>
                <a:latin typeface="Segoe UI"/>
              </a:defRPr>
            </a:pPr>
            <a:r>
              <a:t>Services depend on</a:t>
            </a:r>
            <a:br/>
            <a:r>
              <a:t>IRepository&lt;T&gt; interface,</a:t>
            </a:r>
            <a:br/>
            <a:r>
              <a:t>not on SqliteRepository</a:t>
            </a:r>
            <a:br/>
            <a:r>
              <a:t>or MySqlRepository.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Strengths &amp; Design Decisions</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45920"/>
            <a:ext cx="3383280" cy="3200400"/>
          </a:xfrm>
          <a:prstGeom prst="roundRect">
            <a:avLst/>
          </a:prstGeom>
          <a:solidFill>
            <a:srgbClr val="16213E"/>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0D2FF"/>
                </a:solidFill>
                <a:latin typeface="Segoe UI"/>
              </a:defRPr>
            </a:pPr>
            <a:r>
              <a:t>Dependency Inversion</a:t>
            </a:r>
          </a:p>
          <a:p>
            <a:pPr>
              <a:spcAft>
                <a:spcPts val="400"/>
              </a:spcAft>
            </a:pPr>
            <a:endParaRPr/>
          </a:p>
          <a:p>
            <a:pPr algn="ctr">
              <a:defRPr sz="1300">
                <a:solidFill>
                  <a:srgbClr val="BBBBCC"/>
                </a:solidFill>
                <a:latin typeface="Segoe UI"/>
              </a:defRPr>
            </a:pPr>
            <a:r>
              <a:t>Services depend on IRepository&lt;T&gt;</a:t>
            </a:r>
            <a:br/>
            <a:r>
              <a:t>interface, not concrete SQLite or</a:t>
            </a:r>
            <a:br/>
            <a:r>
              <a:t>MySQL classes. Enables Mockito</a:t>
            </a:r>
            <a:br/>
            <a:r>
              <a:t>testing &amp; runtime backend switching.</a:t>
            </a:r>
          </a:p>
        </p:txBody>
      </p:sp>
      <p:sp>
        <p:nvSpPr>
          <p:cNvPr id="6" name="Rounded Rectangle 5"/>
          <p:cNvSpPr/>
          <p:nvPr/>
        </p:nvSpPr>
        <p:spPr>
          <a:xfrm>
            <a:off x="4480559" y="1645920"/>
            <a:ext cx="3383280" cy="3200400"/>
          </a:xfrm>
          <a:prstGeom prst="roundRect">
            <a:avLst/>
          </a:prstGeom>
          <a:solidFill>
            <a:srgbClr val="16213E"/>
          </a:solidFill>
          <a:ln w="25400">
            <a:solidFill>
              <a:srgbClr val="7B2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7B2FFF"/>
                </a:solidFill>
                <a:latin typeface="Segoe UI"/>
              </a:defRPr>
            </a:pPr>
            <a:r>
              <a:t>Template Method Pattern</a:t>
            </a:r>
          </a:p>
          <a:p>
            <a:pPr>
              <a:spcAft>
                <a:spcPts val="400"/>
              </a:spcAft>
            </a:pPr>
            <a:endParaRPr/>
          </a:p>
          <a:p>
            <a:pPr algn="ctr">
              <a:defRPr sz="1300">
                <a:solidFill>
                  <a:srgbClr val="BBBBCC"/>
                </a:solidFill>
                <a:latin typeface="Segoe UI"/>
              </a:defRPr>
            </a:pPr>
            <a:r>
              <a:t>SqliteRepository&lt;T&gt; defines CRUD</a:t>
            </a:r>
            <a:br/>
            <a:r>
              <a:t>skeleton. Subclasses provide SQL</a:t>
            </a:r>
            <a:br/>
            <a:r>
              <a:t>queries &amp; mapping. One change</a:t>
            </a:r>
            <a:br/>
            <a:r>
              <a:t>benefits all repositories.</a:t>
            </a:r>
          </a:p>
        </p:txBody>
      </p:sp>
      <p:sp>
        <p:nvSpPr>
          <p:cNvPr id="7" name="Rounded Rectangle 6"/>
          <p:cNvSpPr/>
          <p:nvPr/>
        </p:nvSpPr>
        <p:spPr>
          <a:xfrm>
            <a:off x="8229600" y="1645920"/>
            <a:ext cx="3383280" cy="3200400"/>
          </a:xfrm>
          <a:prstGeom prst="roundRect">
            <a:avLst/>
          </a:prstGeom>
          <a:solidFill>
            <a:srgbClr val="16213E"/>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6B35"/>
                </a:solidFill>
                <a:latin typeface="Segoe UI"/>
              </a:defRPr>
            </a:pPr>
            <a:r>
              <a:t>Observer Pattern</a:t>
            </a:r>
          </a:p>
          <a:p>
            <a:pPr>
              <a:spcAft>
                <a:spcPts val="400"/>
              </a:spcAft>
            </a:pPr>
            <a:endParaRPr/>
          </a:p>
          <a:p>
            <a:pPr algn="ctr">
              <a:defRPr sz="1300">
                <a:solidFill>
                  <a:srgbClr val="BBBBCC"/>
                </a:solidFill>
                <a:latin typeface="Segoe UI"/>
              </a:defRPr>
            </a:pPr>
            <a:r>
              <a:t>EventManager (Singleton) notifies</a:t>
            </a:r>
            <a:br/>
            <a:r>
              <a:t>panels. Services fire events on</a:t>
            </a:r>
            <a:br/>
            <a:r>
              <a:t>CRUD operations. GUI refreshes</a:t>
            </a:r>
            <a:br/>
            <a:r>
              <a:t>automatically — zero coupling.</a:t>
            </a:r>
          </a:p>
        </p:txBody>
      </p:sp>
      <p:sp>
        <p:nvSpPr>
          <p:cNvPr id="8" name="TextBox 7"/>
          <p:cNvSpPr txBox="1"/>
          <p:nvPr/>
        </p:nvSpPr>
        <p:spPr>
          <a:xfrm>
            <a:off x="731520" y="5303520"/>
            <a:ext cx="10515600" cy="731520"/>
          </a:xfrm>
          <a:prstGeom prst="rect">
            <a:avLst/>
          </a:prstGeom>
          <a:noFill/>
        </p:spPr>
        <p:txBody>
          <a:bodyPr wrap="square">
            <a:spAutoFit/>
          </a:bodyPr>
          <a:lstStyle/>
          <a:p>
            <a:pPr algn="ctr">
              <a:defRPr sz="1800" b="1">
                <a:solidFill>
                  <a:srgbClr val="FFFFFF"/>
                </a:solidFill>
                <a:latin typeface="Segoe UI"/>
              </a:defRPr>
            </a:pPr>
            <a:r>
              <a:t>4 GoF Patterns: Factory · Singleton · Observer · Template Method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058400" cy="640080"/>
          </a:xfrm>
          <a:prstGeom prst="rect">
            <a:avLst/>
          </a:prstGeom>
          <a:noFill/>
        </p:spPr>
        <p:txBody>
          <a:bodyPr wrap="square">
            <a:spAutoFit/>
          </a:bodyPr>
          <a:lstStyle/>
          <a:p>
            <a:pPr algn="l">
              <a:defRPr sz="3600" b="1">
                <a:solidFill>
                  <a:srgbClr val="00D2FF"/>
                </a:solidFill>
                <a:latin typeface="Segoe UI"/>
              </a:defRPr>
            </a:pPr>
            <a:r>
              <a:t>Conclusion &amp; Future Work</a:t>
            </a:r>
          </a:p>
        </p:txBody>
      </p:sp>
      <p:sp>
        <p:nvSpPr>
          <p:cNvPr id="4" name="Rectangle 3"/>
          <p:cNvSpPr/>
          <p:nvPr/>
        </p:nvSpPr>
        <p:spPr>
          <a:xfrm>
            <a:off x="731520" y="1097280"/>
            <a:ext cx="2286000" cy="36576"/>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71600"/>
            <a:ext cx="5029200" cy="457200"/>
          </a:xfrm>
          <a:prstGeom prst="rect">
            <a:avLst/>
          </a:prstGeom>
          <a:noFill/>
        </p:spPr>
        <p:txBody>
          <a:bodyPr wrap="square">
            <a:spAutoFit/>
          </a:bodyPr>
          <a:lstStyle/>
          <a:p>
            <a:pPr algn="l">
              <a:defRPr sz="2200" b="1">
                <a:solidFill>
                  <a:srgbClr val="00E676"/>
                </a:solidFill>
                <a:latin typeface="Segoe UI"/>
              </a:defRPr>
            </a:pPr>
            <a:r>
              <a:t>What We Achieved</a:t>
            </a:r>
          </a:p>
        </p:txBody>
      </p:sp>
      <p:sp>
        <p:nvSpPr>
          <p:cNvPr id="6" name="TextBox 5"/>
          <p:cNvSpPr txBox="1"/>
          <p:nvPr/>
        </p:nvSpPr>
        <p:spPr>
          <a:xfrm>
            <a:off x="731520" y="1920240"/>
            <a:ext cx="5029200" cy="3657600"/>
          </a:xfrm>
          <a:prstGeom prst="rect">
            <a:avLst/>
          </a:prstGeom>
          <a:noFill/>
        </p:spPr>
        <p:txBody>
          <a:bodyPr wrap="square">
            <a:spAutoFit/>
          </a:bodyPr>
          <a:lstStyle/>
          <a:p>
            <a:pPr>
              <a:spcAft>
                <a:spcPts val="800"/>
              </a:spcAft>
              <a:defRPr sz="1600" b="0">
                <a:solidFill>
                  <a:srgbClr val="BBBBCC"/>
                </a:solidFill>
                <a:latin typeface="Segoe UI"/>
              </a:defRPr>
            </a:pPr>
            <a:r>
              <a:t>✓  Complete OOP case study with all 4 pillars</a:t>
            </a:r>
          </a:p>
          <a:p>
            <a:pPr>
              <a:spcAft>
                <a:spcPts val="800"/>
              </a:spcAft>
              <a:defRPr sz="1600" b="0">
                <a:solidFill>
                  <a:srgbClr val="BBBBCC"/>
                </a:solidFill>
                <a:latin typeface="Segoe UI"/>
              </a:defRPr>
            </a:pPr>
            <a:r>
              <a:t>✓  Two inheritance hierarchies (Pet + Reminder)</a:t>
            </a:r>
          </a:p>
          <a:p>
            <a:pPr>
              <a:spcAft>
                <a:spcPts val="800"/>
              </a:spcAft>
              <a:defRPr sz="1600" b="0">
                <a:solidFill>
                  <a:srgbClr val="BBBBCC"/>
                </a:solidFill>
                <a:latin typeface="Segoe UI"/>
              </a:defRPr>
            </a:pPr>
            <a:r>
              <a:t>✓  4 GoF design patterns applied correctly</a:t>
            </a:r>
          </a:p>
          <a:p>
            <a:pPr>
              <a:spcAft>
                <a:spcPts val="800"/>
              </a:spcAft>
              <a:defRPr sz="1600" b="0">
                <a:solidFill>
                  <a:srgbClr val="BBBBCC"/>
                </a:solidFill>
                <a:latin typeface="Segoe UI"/>
              </a:defRPr>
            </a:pPr>
            <a:r>
              <a:t>✓  SOLID principles followed throughout</a:t>
            </a:r>
          </a:p>
          <a:p>
            <a:pPr>
              <a:spcAft>
                <a:spcPts val="800"/>
              </a:spcAft>
              <a:defRPr sz="1600" b="0">
                <a:solidFill>
                  <a:srgbClr val="BBBBCC"/>
                </a:solidFill>
                <a:latin typeface="Segoe UI"/>
              </a:defRPr>
            </a:pPr>
            <a:r>
              <a:t>✓  3-layer architecture with clean separation</a:t>
            </a:r>
          </a:p>
          <a:p>
            <a:pPr>
              <a:spcAft>
                <a:spcPts val="800"/>
              </a:spcAft>
              <a:defRPr sz="1600" b="0">
                <a:solidFill>
                  <a:srgbClr val="BBBBCC"/>
                </a:solidFill>
                <a:latin typeface="Segoe UI"/>
              </a:defRPr>
            </a:pPr>
            <a:r>
              <a:t>✓  20 JUnit 5 + Mockito test classes</a:t>
            </a:r>
          </a:p>
          <a:p>
            <a:pPr>
              <a:spcAft>
                <a:spcPts val="800"/>
              </a:spcAft>
              <a:defRPr sz="1600" b="0">
                <a:solidFill>
                  <a:srgbClr val="BBBBCC"/>
                </a:solidFill>
                <a:latin typeface="Segoe UI"/>
              </a:defRPr>
            </a:pPr>
            <a:r>
              <a:t>✓  Pluggable storage (Binary / SQLite / MySQL)</a:t>
            </a:r>
          </a:p>
          <a:p>
            <a:pPr>
              <a:spcAft>
                <a:spcPts val="800"/>
              </a:spcAft>
              <a:defRPr sz="1600" b="0">
                <a:solidFill>
                  <a:srgbClr val="BBBBCC"/>
                </a:solidFill>
                <a:latin typeface="Segoe UI"/>
              </a:defRPr>
            </a:pPr>
            <a:r>
              <a:t>✓  GitHub Actions CI/CD pipeline — automated</a:t>
            </a:r>
          </a:p>
          <a:p>
            <a:pPr>
              <a:spcAft>
                <a:spcPts val="800"/>
              </a:spcAft>
              <a:defRPr sz="1600" b="0">
                <a:solidFill>
                  <a:srgbClr val="BBBBCC"/>
                </a:solidFill>
                <a:latin typeface="Segoe UI"/>
              </a:defRPr>
            </a:pPr>
            <a:r>
              <a:t>     build + test on every push; JaCoCo</a:t>
            </a:r>
          </a:p>
          <a:p>
            <a:pPr>
              <a:spcAft>
                <a:spcPts val="800"/>
              </a:spcAft>
              <a:defRPr sz="1600" b="0">
                <a:solidFill>
                  <a:srgbClr val="BBBBCC"/>
                </a:solidFill>
                <a:latin typeface="Segoe UI"/>
              </a:defRPr>
            </a:pPr>
            <a:r>
              <a:t>     coverage badge in README</a:t>
            </a:r>
          </a:p>
        </p:txBody>
      </p:sp>
      <p:sp>
        <p:nvSpPr>
          <p:cNvPr id="7" name="TextBox 6"/>
          <p:cNvSpPr txBox="1"/>
          <p:nvPr/>
        </p:nvSpPr>
        <p:spPr>
          <a:xfrm>
            <a:off x="6400800" y="1371600"/>
            <a:ext cx="5029200" cy="457200"/>
          </a:xfrm>
          <a:prstGeom prst="rect">
            <a:avLst/>
          </a:prstGeom>
          <a:noFill/>
        </p:spPr>
        <p:txBody>
          <a:bodyPr wrap="square">
            <a:spAutoFit/>
          </a:bodyPr>
          <a:lstStyle/>
          <a:p>
            <a:pPr algn="l">
              <a:defRPr sz="2200" b="1">
                <a:solidFill>
                  <a:srgbClr val="FF6B35"/>
                </a:solidFill>
                <a:latin typeface="Segoe UI"/>
              </a:defRPr>
            </a:pPr>
            <a:r>
              <a:t>Future Improvements</a:t>
            </a:r>
          </a:p>
        </p:txBody>
      </p:sp>
      <p:sp>
        <p:nvSpPr>
          <p:cNvPr id="8" name="TextBox 7"/>
          <p:cNvSpPr txBox="1"/>
          <p:nvPr/>
        </p:nvSpPr>
        <p:spPr>
          <a:xfrm>
            <a:off x="6400800" y="1920240"/>
            <a:ext cx="5029200" cy="3200400"/>
          </a:xfrm>
          <a:prstGeom prst="rect">
            <a:avLst/>
          </a:prstGeom>
          <a:noFill/>
        </p:spPr>
        <p:txBody>
          <a:bodyPr wrap="square">
            <a:spAutoFit/>
          </a:bodyPr>
          <a:lstStyle/>
          <a:p>
            <a:pPr>
              <a:spcAft>
                <a:spcPts val="800"/>
              </a:spcAft>
              <a:defRPr sz="1600" b="0">
                <a:solidFill>
                  <a:srgbClr val="BBBBCC"/>
                </a:solidFill>
                <a:latin typeface="Segoe UI"/>
              </a:defRPr>
            </a:pPr>
            <a:r>
              <a:t>→  Push-based reminder notifications</a:t>
            </a:r>
          </a:p>
          <a:p>
            <a:pPr>
              <a:spcAft>
                <a:spcPts val="800"/>
              </a:spcAft>
              <a:defRPr sz="1600" b="0">
                <a:solidFill>
                  <a:srgbClr val="BBBBCC"/>
                </a:solidFill>
                <a:latin typeface="Segoe UI"/>
              </a:defRPr>
            </a:pPr>
            <a:r>
              <a:t>     (ScheduledExecutorService)</a:t>
            </a:r>
          </a:p>
          <a:p>
            <a:pPr>
              <a:spcAft>
                <a:spcPts val="800"/>
              </a:spcAft>
              <a:defRPr sz="1600" b="0">
                <a:solidFill>
                  <a:srgbClr val="BBBBCC"/>
                </a:solidFill>
                <a:latin typeface="Segoe UI"/>
              </a:defRPr>
            </a:pPr>
            <a:r>
              <a:t>→  REST API layer (Spring Boot)</a:t>
            </a:r>
          </a:p>
          <a:p>
            <a:pPr>
              <a:spcAft>
                <a:spcPts val="800"/>
              </a:spcAft>
              <a:defRPr sz="1600" b="0">
                <a:solidFill>
                  <a:srgbClr val="BBBBCC"/>
                </a:solidFill>
                <a:latin typeface="Segoe UI"/>
              </a:defRPr>
            </a:pPr>
            <a:r>
              <a:t>     reuse existing service layer</a:t>
            </a:r>
          </a:p>
          <a:p>
            <a:pPr>
              <a:spcAft>
                <a:spcPts val="800"/>
              </a:spcAft>
              <a:defRPr sz="1600" b="0">
                <a:solidFill>
                  <a:srgbClr val="BBBBCC"/>
                </a:solidFill>
                <a:latin typeface="Segoe UI"/>
              </a:defRPr>
            </a:pPr>
            <a:r>
              <a:t>→  Strategy Pattern for mapRow()</a:t>
            </a:r>
          </a:p>
          <a:p>
            <a:pPr>
              <a:spcAft>
                <a:spcPts val="800"/>
              </a:spcAft>
              <a:defRPr sz="1600" b="0">
                <a:solidFill>
                  <a:srgbClr val="BBBBCC"/>
                </a:solidFill>
                <a:latin typeface="Segoe UI"/>
              </a:defRPr>
            </a:pPr>
            <a:r>
              <a:t>     eliminate if-else (Open-Closed Principle)</a:t>
            </a:r>
          </a:p>
        </p:txBody>
      </p:sp>
      <p:sp>
        <p:nvSpPr>
          <p:cNvPr id="9" name="TextBox 8"/>
          <p:cNvSpPr txBox="1"/>
          <p:nvPr/>
        </p:nvSpPr>
        <p:spPr>
          <a:xfrm>
            <a:off x="1828800" y="5742432"/>
            <a:ext cx="8229600" cy="914400"/>
          </a:xfrm>
          <a:prstGeom prst="rect">
            <a:avLst/>
          </a:prstGeom>
          <a:noFill/>
        </p:spPr>
        <p:txBody>
          <a:bodyPr wrap="square">
            <a:spAutoFit/>
          </a:bodyPr>
          <a:lstStyle/>
          <a:p>
            <a:pPr algn="ctr">
              <a:defRPr sz="3000" b="1">
                <a:solidFill>
                  <a:srgbClr val="FFFFFF"/>
                </a:solidFill>
                <a:latin typeface="Segoe UI"/>
              </a:defRPr>
            </a:pPr>
            <a:r>
              <a:rPr dirty="0"/>
              <a:t>Thank you! — Questions are welcome</a:t>
            </a:r>
          </a:p>
        </p:txBody>
      </p:sp>
      <p:sp>
        <p:nvSpPr>
          <p:cNvPr id="10" name="Rectangle 9"/>
          <p:cNvSpPr/>
          <p:nvPr/>
        </p:nvSpPr>
        <p:spPr>
          <a:xfrm>
            <a:off x="0" y="6784848"/>
            <a:ext cx="12191695" cy="73152"/>
          </a:xfrm>
          <a:prstGeom prst="rect">
            <a:avLst/>
          </a:prstGeom>
          <a:solidFill>
            <a:srgbClr val="7B2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2404</Words>
  <Application>Microsoft Office PowerPoint</Application>
  <PresentationFormat>Geniş ekran</PresentationFormat>
  <Paragraphs>236</Paragraphs>
  <Slides>12</Slides>
  <Notes>12</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12</vt:i4>
      </vt:variant>
    </vt:vector>
  </HeadingPairs>
  <TitlesOfParts>
    <vt:vector size="15" baseType="lpstr">
      <vt:lpstr>Arial</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Zümre Uykun</cp:lastModifiedBy>
  <cp:revision>1</cp:revision>
  <dcterms:created xsi:type="dcterms:W3CDTF">2013-01-27T09:14:16Z</dcterms:created>
  <dcterms:modified xsi:type="dcterms:W3CDTF">2026-03-18T14:08:15Z</dcterms:modified>
  <cp:category/>
</cp:coreProperties>
</file>